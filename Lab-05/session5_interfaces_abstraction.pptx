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0" y="-1371600"/>
            <a:ext cx="5303520" cy="5303520"/>
          </a:xfrm>
          <a:prstGeom prst="ellipse">
            <a:avLst/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71600" y="4114800"/>
            <a:ext cx="4754880" cy="4754880"/>
          </a:xfrm>
          <a:prstGeom prst="ellipse">
            <a:avLst/>
          </a:prstGeom>
          <a:solidFill>
            <a:srgbClr val="0D9488">
              <a:alpha val="16078"/>
            </a:srgbClr>
          </a:solidFill>
          <a:ln cap="flat" cmpd="sng" w="12700">
            <a:solidFill>
              <a:srgbClr val="0D9488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0" y="4572000"/>
            <a:ext cx="2743200" cy="2743200"/>
          </a:xfrm>
          <a:prstGeom prst="ellipse">
            <a:avLst/>
          </a:prstGeom>
          <a:solidFill>
            <a:srgbClr val="06B6D4">
              <a:alpha val="14118"/>
            </a:srgbClr>
          </a:solidFill>
          <a:ln cap="flat" cmpd="sng" w="12700">
            <a:solidFill>
              <a:srgbClr val="06B6D4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298448"/>
            <a:ext cx="100584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Interfaces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6366F1">
              <a:alpha val="41961"/>
            </a:srgbClr>
          </a:solidFill>
          <a:ln cap="flat" cmpd="sng" w="12700">
            <a:solidFill>
              <a:srgbClr val="6366F1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Syntax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350008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3B82F6">
              <a:alpha val="41961"/>
            </a:srgbClr>
          </a:solidFill>
          <a:ln cap="flat" cmpd="sng" w="12700">
            <a:solidFill>
              <a:srgbClr val="3B82F6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350008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Interfaces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242816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7C3AED">
              <a:alpha val="41961"/>
            </a:srgbClr>
          </a:solidFill>
          <a:ln cap="flat" cmpd="sng" w="12700">
            <a:solidFill>
              <a:srgbClr val="7C3A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242816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Abstract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135624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0D9488">
              <a:alpha val="41961"/>
            </a:srgbClr>
          </a:solidFill>
          <a:ln cap="flat" cmpd="sng" w="12700">
            <a:solidFill>
              <a:srgbClr val="0D948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135624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 Interfaces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028432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10B981">
              <a:alpha val="41961"/>
            </a:srgbClr>
          </a:solidFill>
          <a:ln cap="flat" cmpd="sng" w="12700">
            <a:solidFill>
              <a:srgbClr val="10B981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028432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Principle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921240" y="4187952"/>
            <a:ext cx="1783080" cy="365760"/>
          </a:xfrm>
          <a:prstGeom prst="roundRect">
            <a:avLst>
              <a:gd fmla="val 22500" name="adj"/>
            </a:avLst>
          </a:prstGeom>
          <a:solidFill>
            <a:srgbClr val="06B6D4">
              <a:alpha val="41961"/>
            </a:srgbClr>
          </a:solidFill>
          <a:ln cap="flat" cmpd="sng" w="12700">
            <a:solidFill>
              <a:srgbClr val="06B6D4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921240" y="4187952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Dependency Injection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an Interface?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6366F1">
              <a:alpha val="14118"/>
            </a:srgbClr>
          </a:solidFill>
          <a:ln cap="flat" cmpd="sng" w="12700">
            <a:solidFill>
              <a:srgbClr val="6366F1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65760" y="804672"/>
            <a:ext cx="11430000" cy="960120"/>
          </a:xfrm>
          <a:prstGeom prst="roundRect">
            <a:avLst>
              <a:gd fmla="val 9524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12071" y="896112"/>
            <a:ext cx="1085788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An interface is a CONTRACT — a list of members that a class MUST implement. No implementation, only signatures.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88720" y="1316736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Interfaces define WHAT a class can do, not HOW it does it. They enable multiple "inheritance" and are the foundation of flexible, testable architecture.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1911096"/>
            <a:ext cx="2747772" cy="1719072"/>
          </a:xfrm>
          <a:prstGeom prst="roundRect">
            <a:avLst>
              <a:gd fmla="val 5319" name="adj"/>
            </a:avLst>
          </a:prstGeom>
          <a:solidFill>
            <a:srgbClr val="1E293B"/>
          </a:solidFill>
          <a:ln cap="flat" cmpd="sng" w="15225">
            <a:solidFill>
              <a:srgbClr val="6366F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38919" y="2093976"/>
            <a:ext cx="190775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2569464"/>
            <a:ext cx="23820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Defines a set of methods, properties, and events that implementors MUST provide.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59836" y="1911096"/>
            <a:ext cx="2747772" cy="1719072"/>
          </a:xfrm>
          <a:prstGeom prst="roundRect">
            <a:avLst>
              <a:gd fmla="val 5319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432995" y="2093976"/>
            <a:ext cx="190775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Multiple Inheritance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442716" y="2569464"/>
            <a:ext cx="23820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class can implement MANY interfaces (C# only allows one parent class).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53912" y="1911096"/>
            <a:ext cx="2747772" cy="1719072"/>
          </a:xfrm>
          <a:prstGeom prst="roundRect">
            <a:avLst>
              <a:gd fmla="val 5319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327071" y="2093976"/>
            <a:ext cx="190775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Testability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336792" y="2569464"/>
            <a:ext cx="23820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Depend on interfaces, not classes — swap real implementation with a mock in tests.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047988" y="1911096"/>
            <a:ext cx="2747772" cy="1719072"/>
          </a:xfrm>
          <a:prstGeom prst="roundRect">
            <a:avLst>
              <a:gd fmla="val 5319" name="adj"/>
            </a:avLst>
          </a:prstGeom>
          <a:solidFill>
            <a:srgbClr val="1E293B"/>
          </a:solidFill>
          <a:ln cap="flat" cmpd="sng" w="15225">
            <a:solidFill>
              <a:srgbClr val="0D948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221147" y="2093976"/>
            <a:ext cx="190775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Decoupling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230868" y="2569464"/>
            <a:ext cx="23820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Classes interact through interfaces — changing one class doesn't break others.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5760" y="3776472"/>
            <a:ext cx="5641848" cy="2788920"/>
          </a:xfrm>
          <a:prstGeom prst="roundRect">
            <a:avLst>
              <a:gd fmla="val 3279" name="adj"/>
            </a:avLst>
          </a:prstGeom>
          <a:solidFill>
            <a:srgbClr val="6366F1">
              <a:alpha val="14902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8640" y="3867912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  Real-world analogy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4251960"/>
            <a:ext cx="5276088" cy="2221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power outlet is an interface.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It defines: accepts 2 pins, 220V (the contract)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A fan, phone charger, lamp — each "implements" this interface differently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You don't care HOW the fan works — just that it plugs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153912" y="3776472"/>
            <a:ext cx="5641848" cy="2788920"/>
          </a:xfrm>
          <a:prstGeom prst="roundRect">
            <a:avLst>
              <a:gd fmla="val 3279" name="adj"/>
            </a:avLst>
          </a:prstGeom>
          <a:solidFill>
            <a:srgbClr val="3B82F6">
              <a:alpha val="14902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36792" y="3867912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 Key rules in C#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36792" y="4251960"/>
            <a:ext cx="5276088" cy="2221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Interface members are public by default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fields allowed (only properties, methods, events)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class can implement multiple interfaces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Interfaces can inherit from other interfaces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Cannot be instantiated directly (like abstract class)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C# 8+: can have default implementations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Syntax &amp; Implementation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804672"/>
            <a:ext cx="11430000" cy="658368"/>
          </a:xfrm>
          <a:prstGeom prst="roundRect">
            <a:avLst>
              <a:gd fmla="val 13889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48640" y="877824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Convention: interface names start with  I  (capital I) — IAnimal, IComparable, ILogger. The class that implements MUST provide all members.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65760" y="1609344"/>
            <a:ext cx="5641848" cy="4956048"/>
          </a:xfrm>
          <a:prstGeom prst="roundRect">
            <a:avLst>
              <a:gd fmla="val 1845" name="adj"/>
            </a:avLst>
          </a:prstGeom>
          <a:solidFill>
            <a:srgbClr val="1E293B"/>
          </a:solidFill>
          <a:ln cap="flat" cmpd="sng" w="15225">
            <a:solidFill>
              <a:srgbClr val="6366F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48640" y="2139696"/>
            <a:ext cx="5276088" cy="4315968"/>
          </a:xfrm>
          <a:prstGeom prst="roundRect">
            <a:avLst>
              <a:gd fmla="val 1695" name="adj"/>
            </a:avLst>
          </a:prstGeom>
          <a:solidFill>
            <a:srgbClr val="111827"/>
          </a:solidFill>
          <a:ln cap="flat" cmpd="sng" w="12700">
            <a:solidFill>
              <a:srgbClr val="6366F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76656" y="2231136"/>
            <a:ext cx="5020056" cy="413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Interface definition — the CONTRACT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IAnimal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Property signature (no body)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Name { get; set; }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Method signatures (no body)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 MakeSound();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 Move();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Read-only property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Type { get; }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ITrainable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Train(string command);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bool CanFollow(string command);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1719072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Defining Interfaces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53912" y="1609344"/>
            <a:ext cx="5641848" cy="4956048"/>
          </a:xfrm>
          <a:prstGeom prst="roundRect">
            <a:avLst>
              <a:gd fmla="val 1845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336792" y="2139696"/>
            <a:ext cx="5276088" cy="4315968"/>
          </a:xfrm>
          <a:prstGeom prst="roundRect">
            <a:avLst>
              <a:gd fmla="val 1695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464808" y="2231136"/>
            <a:ext cx="5020056" cy="413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Class implements the interface — uses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Dog : IAnimal, ITrainable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MUST implement ALL interface members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Name { get; set;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Type =&gt; "Mammal";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MakeSound()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Console.WriteLine($"{Name}: Woof!");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Move()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Console.WriteLine($"{Name} runs.");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Usage — store as interface type!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IAnimal a = new Dog { Name = "Rex" 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a.MakeSound();  // Rex: Woof!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a.Move();       // Rex runs.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336792" y="1719072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Implementing the Interface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Implementing Multiple Interfaces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76057" y="629618"/>
            <a:ext cx="11430000" cy="605646"/>
          </a:xfrm>
          <a:prstGeom prst="roundRect">
            <a:avLst>
              <a:gd fmla="val 12195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58937" y="702770"/>
            <a:ext cx="11064240" cy="275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C# only allows ONE parent class but UNLIMITED interfaces. This is how C# achieves the benefits of multiple inheritance safely.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58937" y="983845"/>
            <a:ext cx="11064240" cy="204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interface adds a new "capability" to the class. A class must implement ALL members from ALL its interfaces.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65760" y="1371270"/>
            <a:ext cx="5641848" cy="5379472"/>
          </a:xfrm>
          <a:prstGeom prst="roundRect">
            <a:avLst>
              <a:gd fmla="val 1880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48640" y="1901622"/>
            <a:ext cx="5276088" cy="4723081"/>
          </a:xfrm>
          <a:prstGeom prst="roundRect">
            <a:avLst>
              <a:gd fmla="val 1619" name="adj"/>
            </a:avLst>
          </a:prstGeom>
          <a:solidFill>
            <a:srgbClr val="11182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86953" y="1879791"/>
            <a:ext cx="5020056" cy="6980662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// Multiple capability interfaces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ISaveable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void Save();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void Load();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IPrintable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void Print();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void PrintPreview();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// One class, multiple capabilities!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Report : ISaveable,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IPrintable,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IExportable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Title { get; set; }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Save()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Console.WriteLine($"Saving {Title}...");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Load()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Console.WriteLine($"Loading {Title}...");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Print()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Console.WriteLine($"Printing {Title}...");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PrintPreview()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Console.WriteLine("Preview...");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ExportToPDF()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Console.WriteLine("Exporting to PDF...");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ExportToCSV()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Console.WriteLine("Exporting to CSV...");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D8D8D8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D8D8D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D8D8D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480998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Multiple Interfaces on one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153912" y="1371270"/>
            <a:ext cx="5641848" cy="5379472"/>
          </a:xfrm>
          <a:prstGeom prst="roundRect">
            <a:avLst>
              <a:gd fmla="val 1880" name="adj"/>
            </a:avLst>
          </a:prstGeom>
          <a:solidFill>
            <a:srgbClr val="1E293B"/>
          </a:solidFill>
          <a:ln cap="flat" cmpd="sng" w="15225">
            <a:solidFill>
              <a:srgbClr val="7C3AED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336792" y="1901622"/>
            <a:ext cx="5276088" cy="4723081"/>
          </a:xfrm>
          <a:prstGeom prst="roundRect">
            <a:avLst>
              <a:gd fmla="val 1619" name="adj"/>
            </a:avLst>
          </a:prstGeom>
          <a:solidFill>
            <a:srgbClr val="111827"/>
          </a:solidFill>
          <a:ln cap="flat" cmpd="sng" w="12700">
            <a:solidFill>
              <a:srgbClr val="7C3AED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464808" y="2013657"/>
            <a:ext cx="5020056" cy="6167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Interfaces can inherit from interfaces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IShape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Area();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IResizable : IShape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Resize(double factor);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Also inherits: Area()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Usage — treat as any interface type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Report r = new Report { Title = "Q4" };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Use as ISaveable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ISaveable saver = r;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saver.Save();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Use as IPrintable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IPrintable printer = r;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printer.Print();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Use as IExportable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IExportable exporter = r;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exporter.ExportToPDF();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Check what interfaces an object implements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(r is IPrintable 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p.PrintPreview();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Interface inheritance chain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IResizable shape = new Circle();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shape.Resize(2.0);  // IResizable 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shape.Area();       // inherited from IShape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336792" y="1480998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Interface Inheritance + Polymorphism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 vs  Abstract Class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660510"/>
            <a:ext cx="11430000" cy="483314"/>
          </a:xfrm>
          <a:prstGeom prst="roundRect">
            <a:avLst>
              <a:gd fmla="val 13889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48640" y="733662"/>
            <a:ext cx="11064240" cy="3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Both cannot be instantiated and both define contracts — but they serve different purposes. Knowing when to use which is a key design skill.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65760" y="1218047"/>
            <a:ext cx="11430000" cy="34114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57200" y="1272911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456432" y="127291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717536" y="127291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Abstract Class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1614056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Instantiate directly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56432" y="161405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Cannot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717536" y="161405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Cannot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5760" y="1962122"/>
            <a:ext cx="11430000" cy="34114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" y="2016986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Fields (variables)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456432" y="201698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Not allowed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17536" y="201698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Allowed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2389022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456432" y="2389022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717536" y="2389022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 Has constructor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65760" y="2695898"/>
            <a:ext cx="11430000" cy="34114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2750762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 modifiers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456432" y="2750762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only (default)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717536" y="2750762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Any modifier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3143394"/>
            <a:ext cx="2743200" cy="260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Multiple "inheritance"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456432" y="3143394"/>
            <a:ext cx="4023360" cy="260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 Unlimited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717536" y="3143394"/>
            <a:ext cx="4023360" cy="260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One parent only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5760" y="3481162"/>
            <a:ext cx="11430000" cy="34114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3536026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456432" y="353602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None (C# 8: default)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717536" y="3536026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have concrete methods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3918361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 (stored data)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456432" y="391836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No state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717536" y="391836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Can store state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65760" y="4297317"/>
            <a:ext cx="11430000" cy="341146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4352181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Keyword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456432" y="435218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717536" y="4352181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4765408"/>
            <a:ext cx="274320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when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7243" y="6412975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Define capability / contract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337698" y="6412975"/>
            <a:ext cx="4023360" cy="280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Define IS-A with shared code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5760" y="5321561"/>
            <a:ext cx="5641848" cy="0"/>
          </a:xfrm>
          <a:prstGeom prst="roundRect">
            <a:avLst>
              <a:gd fmla="val -62500" name="adj"/>
            </a:avLst>
          </a:prstGeom>
          <a:solidFill>
            <a:srgbClr val="6366F1">
              <a:alpha val="14902"/>
            </a:srgbClr>
          </a:solidFill>
          <a:ln cap="flat" cmpd="sng" w="12700">
            <a:solidFill>
              <a:srgbClr val="6366F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48640" y="5024010"/>
            <a:ext cx="5276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 Use Interface when: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5453860"/>
            <a:ext cx="5276088" cy="689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Defining a contract (ILogger, ISaveable, IComparable)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Unrelated classes need the same capability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You want multiple "inheritance"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Designing for testability/mocking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153912" y="5321561"/>
            <a:ext cx="5641848" cy="0"/>
          </a:xfrm>
          <a:prstGeom prst="roundRect">
            <a:avLst>
              <a:gd fmla="val -62500" name="adj"/>
            </a:avLst>
          </a:prstGeom>
          <a:solidFill>
            <a:srgbClr val="F59E0B">
              <a:alpha val="14902"/>
            </a:srgbClr>
          </a:solidFill>
          <a:ln cap="flat" cmpd="sng" w="12700">
            <a:solidFill>
              <a:srgbClr val="F59E0B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336792" y="5013713"/>
            <a:ext cx="5276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Use Abstract Class when: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36792" y="5453860"/>
            <a:ext cx="5276088" cy="689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Classes share a genuine IS-A relationship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You want shared code (concrete methods)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You need fields and constructors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Building a base that provides partial implementation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5760" y="164592"/>
            <a:ext cx="11430000" cy="2569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Explicit Implementation  &amp;  Default Interface Methods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65760" y="687798"/>
            <a:ext cx="5641848" cy="6001161"/>
          </a:xfrm>
          <a:prstGeom prst="roundRect">
            <a:avLst>
              <a:gd fmla="val 1621" name="adj"/>
            </a:avLst>
          </a:prstGeom>
          <a:solidFill>
            <a:srgbClr val="1E293B"/>
          </a:solidFill>
          <a:ln cap="flat" cmpd="sng" w="15225">
            <a:solidFill>
              <a:srgbClr val="F9731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48640" y="1116207"/>
            <a:ext cx="5276088" cy="5473322"/>
          </a:xfrm>
          <a:prstGeom prst="roundRect">
            <a:avLst>
              <a:gd fmla="val 1429" name="adj"/>
            </a:avLst>
          </a:prstGeom>
          <a:solidFill>
            <a:srgbClr val="111827"/>
          </a:solidFill>
          <a:ln cap="flat" cmpd="sng" w="12700">
            <a:solidFill>
              <a:srgbClr val="F97316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76656" y="1222065"/>
            <a:ext cx="5020056" cy="3673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1. Interfaces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ILogger { void Log(string msg); }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IDebugger { void Log(string msg); }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2. Explicit Implementation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AppService : ILogger, IDebugger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    void ILogger.Log(string msg)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 =&gt; Console.WriteLine($"[LOG] {msg}");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    void IDebugger.Log(string msg)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 =&gt; Console.WriteLine($"[DEBUG] {msg}");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3. Usage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AppService svc = new AppService();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((ILogger)svc).Log("Server started");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((IDebugger)svc).Log("Step 1 reached");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8640" y="779506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Explicit Interface Implementation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153912" y="687798"/>
            <a:ext cx="5641848" cy="6001161"/>
          </a:xfrm>
          <a:prstGeom prst="roundRect">
            <a:avLst>
              <a:gd fmla="val 1621" name="adj"/>
            </a:avLst>
          </a:prstGeom>
          <a:solidFill>
            <a:srgbClr val="1E293B"/>
          </a:solidFill>
          <a:ln cap="flat" cmpd="sng" w="15225">
            <a:solidFill>
              <a:srgbClr val="0D948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336792" y="1116207"/>
            <a:ext cx="5276088" cy="5473322"/>
          </a:xfrm>
          <a:prstGeom prst="roundRect">
            <a:avLst>
              <a:gd fmla="val 1429" name="adj"/>
            </a:avLst>
          </a:prstGeom>
          <a:solidFill>
            <a:srgbClr val="111827"/>
          </a:solidFill>
          <a:ln cap="flat" cmpd="sng" w="12700">
            <a:solidFill>
              <a:srgbClr val="0D9488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465580" y="1226699"/>
            <a:ext cx="5020056" cy="4918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// Interface with Default Implementation (C# 8+)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interface ILogger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void Log(string msg); // abstract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// Default implementations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void LogInfo(string msg) =&gt; Log($"[INFO] {msg}");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void LogError(string msg) =&gt; Log($"[ERROR] {msg}");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// 1. Class uses defaults for free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class ConsoleLogger : ILogger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public void Log(string msg) =&gt; Console.WriteLine(msg);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// 2. Class overrides default behavior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class FileLogger : ILogger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public void Log(string msg) =&gt; File.AppendAllText("log.txt", msg);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  public void LogError(string msg) =&gt; Log($"[CRITICAL] {msg}");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// Usage (Must call via interface type)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ILogger logger = new ConsoleLogger();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logger.LogInfo("Started"); // [INFO] Started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336792" y="779506"/>
            <a:ext cx="5276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Default Interface Methods  (C# 8+)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Built-in Interfaces in C#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65760" y="804672"/>
            <a:ext cx="11430000" cy="658368"/>
          </a:xfrm>
          <a:prstGeom prst="roundRect">
            <a:avLst>
              <a:gd fmla="val 16667" name="adj"/>
            </a:avLst>
          </a:prstGeom>
          <a:solidFill>
            <a:srgbClr val="94A3B8">
              <a:alpha val="20000"/>
            </a:srgbClr>
          </a:solidFill>
          <a:ln cap="flat" cmpd="sng" w="12700">
            <a:solidFill>
              <a:srgbClr val="94A3B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.NET ships hundreds of interfaces. These are the ones you'll use constantly — understanding them makes you a much more effective C# developer.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65760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12064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IComparable&lt;T&gt;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073298" y="2029968"/>
            <a:ext cx="822960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073298" y="2029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12064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Enables sorting. Implement CompareTo() and objects can be sorted in arrays, lists, etc.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12064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3B82F6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03504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Student : IComparable&lt;Student&gt;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Name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double GPA 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int CompareTo(Student other)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GPA.CompareTo(other.GPA);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List&lt;Student&gt; list = new() { ...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list.Sort(); // uses CompareTo automatically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243730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390034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IEquatable&lt;T&gt;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951269" y="2029968"/>
            <a:ext cx="822960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951269" y="2029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390034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equality check. Used by Contains(), IndexOf(), == when you define Equals().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390034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481474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Point : IEquatable&lt;Point&gt;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int X, Y;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Equals(Point other)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X == other.X &amp;&amp; Y == other.Y;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override int GetHashCode()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HashCode.Combine(X, Y);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p1 = new Point { X=1, Y=2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p2 = new Point { X=1, Y=2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Console.WriteLine(p1.Equals(p2)); // true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121701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7C3AED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268005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IEnumerable&lt;T&gt;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684410" y="2029968"/>
            <a:ext cx="1967789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9684410" y="2029968"/>
            <a:ext cx="19677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System.Collections.Generic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268005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Enables foreach loop. Any collection you want to loop with foreach must implement this.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268005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7C3AED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359445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Your custom collection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StudentList : IEnumerable&lt;Student&gt;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List&lt;Student&gt; _list = new();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Add(Student s) =&gt; _list.Add(s);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IEnumerator&lt;Student&gt; GetEnumerator()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_list.GetEnumerator();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IEnumerator IEnumerable.GetEnumerator()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GetEnumerator();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Now foreach works!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students = new StudentList();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foreach (var s in students) { ...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Built-in Interfaces in C#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65760" y="804672"/>
            <a:ext cx="11430000" cy="658368"/>
          </a:xfrm>
          <a:prstGeom prst="roundRect">
            <a:avLst>
              <a:gd fmla="val 16667" name="adj"/>
            </a:avLst>
          </a:prstGeom>
          <a:solidFill>
            <a:srgbClr val="94A3B8">
              <a:alpha val="20000"/>
            </a:srgbClr>
          </a:solidFill>
          <a:ln cap="flat" cmpd="sng" w="12700">
            <a:solidFill>
              <a:srgbClr val="94A3B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.NET ships hundreds of interfaces. These are the ones you'll use constantly — understanding them makes you a much more effective C# developer.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65760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EF4444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12064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IDisposable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073298" y="2029968"/>
            <a:ext cx="822960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073298" y="2029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12064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Resource cleanup pattern. Implement Dispose() for files, DB connections, network sockets.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12064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EF4444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03504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FileProcessor : IDisposable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FileStream _fs;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FileProcessor(string path)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_fs = File.Open(path, FileMode.Open);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Process() { /* ... */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Dispose()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_fs?.Dispose();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GC.SuppressFinalize(this);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'using' calls Dispose() automatically!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using (var fp = new FileProcessor("data.txt"))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fp.Process();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  // Dispose() called here — even if exception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243730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F59E0B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390034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ICloneable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951269" y="2029968"/>
            <a:ext cx="822960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951269" y="2029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390034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Enables cloning/copying objects. Implement Clone() to return a copy of the object.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390034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F59E0B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481474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Config : ICloneable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Host   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int    Port   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  UseSSL 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object Clone()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new Config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Host   = Host,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Port   = Port,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UseSSL = UseSSL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Config original = new() { Host="localhost", Port=80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Config copy     = (Config)original.Clone();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copy.Port = 443;  // original.Port still 80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121701" y="1609344"/>
            <a:ext cx="3676802" cy="4882896"/>
          </a:xfrm>
          <a:prstGeom prst="roundRect">
            <a:avLst>
              <a:gd fmla="val 1492" name="adj"/>
            </a:avLst>
          </a:prstGeom>
          <a:solidFill>
            <a:srgbClr val="1E293B"/>
          </a:solidFill>
          <a:ln cap="flat" cmpd="sng" w="15225">
            <a:solidFill>
              <a:srgbClr val="0D948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268005" y="1719072"/>
            <a:ext cx="338419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IFormattable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0829239" y="2029968"/>
            <a:ext cx="822960" cy="274320"/>
          </a:xfrm>
          <a:prstGeom prst="roundRect">
            <a:avLst>
              <a:gd fmla="val 20000" name="adj"/>
            </a:avLst>
          </a:prstGeom>
          <a:solidFill>
            <a:srgbClr val="94A3B8">
              <a:alpha val="21961"/>
            </a:srgbClr>
          </a:solidFill>
          <a:ln cap="flat" cmpd="sng" w="9525">
            <a:solidFill>
              <a:srgbClr val="94A3B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0829239" y="2029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8268005" y="2377440"/>
            <a:ext cx="338419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string formatting. Controls how an object looks with $"{obj:F2}" format specifiers.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268005" y="3054096"/>
            <a:ext cx="3384194" cy="3310128"/>
          </a:xfrm>
          <a:prstGeom prst="roundRect">
            <a:avLst>
              <a:gd fmla="val 1381" name="adj"/>
            </a:avLst>
          </a:prstGeom>
          <a:solidFill>
            <a:srgbClr val="111827"/>
          </a:solidFill>
          <a:ln cap="flat" cmpd="sng" w="12700">
            <a:solidFill>
              <a:srgbClr val="0D9488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8359445" y="3127248"/>
            <a:ext cx="3201314" cy="316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Temperature : IFormattable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double Celsius { get; set;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ToString(string fmt,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IFormatProvider fp)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fmt switch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{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"C" =&gt; $"{Celsius:F1}°C",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"F" =&gt; $"{Celsius*1.8+32:F1}°F",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"K" =&gt; $"{Celsius+273.15:F1}K",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_   =&gt; Celsius.ToString()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t = new Temperature { Celsius = 25 };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Console.WriteLine($"{t:C}"); // 25.0°C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Console.WriteLine($"{t:F}"); // 77.0°F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Console.WriteLine($"{t:K}"); // 298.1K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365760" y="164592"/>
            <a:ext cx="1146017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Segregation Principle  (ISP)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65760" y="749808"/>
            <a:ext cx="11460175" cy="896112"/>
          </a:xfrm>
          <a:prstGeom prst="roundRect">
            <a:avLst>
              <a:gd fmla="val 10204" name="adj"/>
            </a:avLst>
          </a:prstGeom>
          <a:solidFill>
            <a:srgbClr val="84CC16">
              <a:alpha val="18039"/>
            </a:srgbClr>
          </a:solidFill>
          <a:ln cap="flat" cmpd="sng" w="12700">
            <a:solidFill>
              <a:srgbClr val="84CC1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84CC16"/>
                </a:solidFill>
                <a:latin typeface="Calibri"/>
                <a:ea typeface="Calibri"/>
                <a:cs typeface="Calibri"/>
                <a:sym typeface="Calibri"/>
              </a:rPr>
              <a:t> ISP = "Clients should not be forced to depend on interfaces they do not use." — Robert C. Martin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48640" y="1207008"/>
            <a:ext cx="1109441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Split large "fat" interfaces into smaller, focused ones. Classes only implement what they actually need.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65760" y="1755648"/>
            <a:ext cx="5602072" cy="4736592"/>
          </a:xfrm>
          <a:prstGeom prst="roundRect">
            <a:avLst>
              <a:gd fmla="val 965" name="adj"/>
            </a:avLst>
          </a:prstGeom>
          <a:solidFill>
            <a:srgbClr val="1E293B"/>
          </a:solidFill>
          <a:ln cap="flat" cmpd="sng" w="15225">
            <a:solidFill>
              <a:srgbClr val="EF4444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30352" y="1847088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Violates ISP — Fat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30352" y="2286000"/>
            <a:ext cx="5272888" cy="4041648"/>
          </a:xfrm>
          <a:prstGeom prst="roundRect">
            <a:avLst>
              <a:gd fmla="val 905" name="adj"/>
            </a:avLst>
          </a:prstGeom>
          <a:solidFill>
            <a:srgbClr val="111827"/>
          </a:solidFill>
          <a:ln cap="flat" cmpd="sng" w="12700">
            <a:solidFill>
              <a:srgbClr val="EF4444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40080" y="2359152"/>
            <a:ext cx="5053432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FAT interface — violates ISP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IWorker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Work();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Eat();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Sleep();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ReceiveSalary();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AttendMeeting();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A Robot worker must implement Eat/Sleep!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Robot : IWorker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Work()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Console.WriteLine("Working...");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These make NO sense for a robot!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Eat()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throw new NotImplementedException();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Sleep()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throw new NotImplementedException();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ReceiveSalary()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throw new NotImplementedException();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AttendMeeting()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Console.WriteLine("Attending...");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Forced to implement irrelevant members ❌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223864" y="1755648"/>
            <a:ext cx="5602072" cy="4736592"/>
          </a:xfrm>
          <a:prstGeom prst="roundRect">
            <a:avLst>
              <a:gd fmla="val 965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6388456" y="1847088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Follows ISP — Segregated Interfaces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388456" y="2286000"/>
            <a:ext cx="5272888" cy="4041648"/>
          </a:xfrm>
          <a:prstGeom prst="roundRect">
            <a:avLst>
              <a:gd fmla="val 905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498184" y="2359152"/>
            <a:ext cx="5053432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  Segregated interfaces — follows ISP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IWorkable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Work();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IEatable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Eat();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Sleep();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IPayable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ReceiveSalary();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Human implements all 3 interfaces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Human : IWorkable, IEatable, IPayable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Work()  =&gt; Console.WriteLine("Working");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Eat()   =&gt; Console.WriteLine("Eating");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Sleep() =&gt; Console.WriteLine("Sleeping");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ReceiveSalary()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Console.WriteLine("Paid!");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Robot only implements what makes sense!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Robot : IWorkable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Work()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Console.WriteLine("Robot working...");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rPr lang="en-US" sz="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No Eat, Sleep, or Salary — clean! </a:t>
            </a:r>
            <a:endParaRPr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9"/>
              <a:buFont typeface="Courier New"/>
              <a:buNone/>
            </a:pPr>
            <a:r>
              <a:rPr lang="en-US" sz="7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365760" y="164592"/>
            <a:ext cx="1146017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Dependency Injection  &amp;  Programming to Interfaces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365760" y="657132"/>
            <a:ext cx="11470472" cy="731357"/>
          </a:xfrm>
          <a:prstGeom prst="roundRect">
            <a:avLst>
              <a:gd fmla="val 10204" name="adj"/>
            </a:avLst>
          </a:prstGeom>
          <a:solidFill>
            <a:srgbClr val="06B6D4">
              <a:alpha val="18039"/>
            </a:srgbClr>
          </a:solidFill>
          <a:ln cap="flat" cmpd="sng" w="12700">
            <a:solidFill>
              <a:srgbClr val="06B6D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548640" y="709690"/>
            <a:ext cx="11094415" cy="33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  "Program to an interface, not an implementation" — the most important rule for writing flexible, testable code.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48640" y="1042251"/>
            <a:ext cx="1109441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Instead of creating objects inside a class (tight coupling), receive them through the constructor (loose coupling). This lets you swap implementations easily.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65760" y="1467324"/>
            <a:ext cx="5602072" cy="5282348"/>
          </a:xfrm>
          <a:prstGeom prst="roundRect">
            <a:avLst>
              <a:gd fmla="val 965" name="adj"/>
            </a:avLst>
          </a:prstGeom>
          <a:solidFill>
            <a:srgbClr val="1E293B"/>
          </a:solidFill>
          <a:ln cap="flat" cmpd="sng" w="15225">
            <a:solidFill>
              <a:srgbClr val="EF4444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530352" y="1558764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Tight Coupling — Hardcoded Dependency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30352" y="1997676"/>
            <a:ext cx="5272888" cy="4690377"/>
          </a:xfrm>
          <a:prstGeom prst="roundRect">
            <a:avLst>
              <a:gd fmla="val 905" name="adj"/>
            </a:avLst>
          </a:prstGeom>
          <a:solidFill>
            <a:srgbClr val="111827"/>
          </a:solidFill>
          <a:ln cap="flat" cmpd="sng" w="12700">
            <a:solidFill>
              <a:srgbClr val="EF4444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640080" y="2070828"/>
            <a:ext cx="5053432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OrderService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Creates its own EmailSender — hardcoded!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EmailSender _sender = new EmailSender();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PlaceOrder(string item)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Console.WriteLine($"Order placed: {item}");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_sender.Send($"You ordered: {item}");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Problems: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 Cannot test without sending real emails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  Cannot switch to SMS without editing class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 Violates Single Responsibility Principle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 Hard to change behavior at runtime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223864" y="1467324"/>
            <a:ext cx="5602072" cy="5282348"/>
          </a:xfrm>
          <a:prstGeom prst="roundRect">
            <a:avLst>
              <a:gd fmla="val 965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6388456" y="1558764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Dependency Injection — Loose Coupling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388456" y="1997676"/>
            <a:ext cx="5272888" cy="4690377"/>
          </a:xfrm>
          <a:prstGeom prst="roundRect">
            <a:avLst>
              <a:gd fmla="val 905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6498184" y="2070828"/>
            <a:ext cx="5053432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INotifier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Send(string message);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EmailNotifier : INotifier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Send(string msg)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Console.WriteLine($"Email: {msg}");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SMSNotifier : INotifier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Send(string msg)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Console.WriteLine($"SMS: {msg}");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Depends on INTERFACE, not a class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OrderService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readonly INotifier _notifier;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// Injected through constructor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OrderService(INotifier notifier)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_notifier = notifier;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    public void PlaceOrder(string item)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Console.WriteLine($"Order: {item}");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_notifier.Send($"You ordered: {item}");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Swap implementations without changing class!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emailSvc = new OrderService(new EmailNotifier());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smsSvc   = new OrderService(new SMSNotifier());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365760" y="164592"/>
            <a:ext cx="1146017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Example — Payment System (1/2)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365760" y="749808"/>
            <a:ext cx="11460175" cy="512064"/>
          </a:xfrm>
          <a:prstGeom prst="roundRect">
            <a:avLst>
              <a:gd fmla="val 17857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548640" y="749808"/>
            <a:ext cx="11094415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real-world payment system using interfaces — interfaces and processor implementations.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365760" y="1371600"/>
            <a:ext cx="5602072" cy="5120640"/>
          </a:xfrm>
          <a:prstGeom prst="roundRect">
            <a:avLst>
              <a:gd fmla="val 893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530352" y="1463040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30352" y="1901952"/>
            <a:ext cx="5272888" cy="4425696"/>
          </a:xfrm>
          <a:prstGeom prst="roundRect">
            <a:avLst>
              <a:gd fmla="val 826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40080" y="1975104"/>
            <a:ext cx="5053432" cy="4279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── Interfaces ───────────────────────────────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IPaymentProcessor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bool ProcessPayment(decimal amount, string currency);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PaymentMethod { get; 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IPaymentValidator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bool Validate(decimal amount);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ITransactionLogger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void Log(string method, decimal amount, bool success);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223864" y="1371600"/>
            <a:ext cx="5602072" cy="5120640"/>
          </a:xfrm>
          <a:prstGeom prst="roundRect">
            <a:avLst>
              <a:gd fmla="val 893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6388456" y="1463040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Implementations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388456" y="1901952"/>
            <a:ext cx="5272888" cy="4425696"/>
          </a:xfrm>
          <a:prstGeom prst="roundRect">
            <a:avLst>
              <a:gd fmla="val 826" name="adj"/>
            </a:avLst>
          </a:prstGeom>
          <a:solidFill>
            <a:srgbClr val="111827"/>
          </a:solidFill>
          <a:ln cap="flat" cmpd="sng" w="12700">
            <a:solidFill>
              <a:srgbClr val="3B82F6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6498184" y="1975104"/>
            <a:ext cx="5053432" cy="4279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── Implementations ──────────────────────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CreditCardProcessor : IPaymentProcessor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PaymentMethod =&gt; "CreditCard";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ProcessPayment(decimal amount, string currency)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Console.WriteLine($"Processing ${amount} by card...");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true; // real: call payment gateway API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PayPalProcessor : IPaymentProcessor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PaymentMethod =&gt; "PayPal";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ProcessPayment(decimal amount, string currency)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Console.WriteLine($"Processing ${amount} via PayPal...");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true;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ourier New"/>
              <a:buNone/>
            </a:pPr>
            <a:r>
              <a:rPr lang="en-US" sz="942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365760" y="164592"/>
            <a:ext cx="1146017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Example — Payment System (2/2)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365760" y="749808"/>
            <a:ext cx="11460175" cy="512064"/>
          </a:xfrm>
          <a:prstGeom prst="roundRect">
            <a:avLst>
              <a:gd fmla="val 17857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548640" y="749808"/>
            <a:ext cx="11094415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💳  A real-world payment system using interfaces — validation, logging, the payment service, and usage.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365760" y="1371600"/>
            <a:ext cx="5602072" cy="5120640"/>
          </a:xfrm>
          <a:prstGeom prst="roundRect">
            <a:avLst>
              <a:gd fmla="val 893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530352" y="1463040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Validator, Logger &amp; Usage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530352" y="1901952"/>
            <a:ext cx="5272888" cy="4425696"/>
          </a:xfrm>
          <a:prstGeom prst="roundRect">
            <a:avLst>
              <a:gd fmla="val 826" name="adj"/>
            </a:avLst>
          </a:prstGeom>
          <a:solidFill>
            <a:srgbClr val="111827"/>
          </a:solidFill>
          <a:ln cap="flat" cmpd="sng" w="12700">
            <a:solidFill>
              <a:srgbClr val="10B981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640080" y="1975104"/>
            <a:ext cx="5053432" cy="4279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AmountValidator : IPaymentValidator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Validate(decimal amount)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amount &gt; 0 &amp;&amp; amount &lt;= 10_000;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ConsoleLogger : ITransactionLogger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Log(string method, decimal amount, bool ok)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Console.WriteLine(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$"[{(ok?"OK":"FAIL")}] {method}: ${amount}");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── Usage — swap processors freely ────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logger    = new ConsoleLogger();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validator = new AmountValidator();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cardSvc  = new PaymentService(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new CreditCardProcessor(), validator, logger);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var paypalSvc= new PaymentService(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new PayPalProcessor(), validator, logger);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cardSvc.Pay(150.00m);   // Processing $150 by card...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paypalSvc.Pay(75.00m);  // Processing $75 via PayPal...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223864" y="1371600"/>
            <a:ext cx="5602072" cy="5120640"/>
          </a:xfrm>
          <a:prstGeom prst="roundRect">
            <a:avLst>
              <a:gd fmla="val 893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6388456" y="1463040"/>
            <a:ext cx="52728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Payment Service — depends on interfaces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388456" y="1901952"/>
            <a:ext cx="5272888" cy="4425696"/>
          </a:xfrm>
          <a:prstGeom prst="roundRect">
            <a:avLst>
              <a:gd fmla="val 826" name="adj"/>
            </a:avLst>
          </a:prstGeom>
          <a:solidFill>
            <a:srgbClr val="111827"/>
          </a:solidFill>
          <a:ln cap="flat" cmpd="sng" w="12700">
            <a:solidFill>
              <a:srgbClr val="3B82F6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498184" y="1975104"/>
            <a:ext cx="5053432" cy="4279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PaymentService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readonly IPaymentProcessor  _processor;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readonly IPaymentValidator  _validator;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readonly ITransactionLogger _logger;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PaymentService(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IPaymentProcessor  processor,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IPaymentValidator  validator,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ITransactionLogger logger)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_processor = processor;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_validator  = validator;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_logger     = logger;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bool Pay(decimal amount, string currency="USD")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(!_validator.Validate(amount))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{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_logger.Log(_processor.PaymentMethod, amount, false);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false;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bool result = _processor.ProcessPayment(amount, currency);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_logger.Log(_processor.PaymentMethod, amount, result);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result;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lang="en-US" sz="91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4 Pillars of OOP — Complete Picture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365760" y="804672"/>
            <a:ext cx="11430000" cy="658368"/>
          </a:xfrm>
          <a:prstGeom prst="roundRect">
            <a:avLst>
              <a:gd fmla="val 13889" name="adj"/>
            </a:avLst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548640" y="877824"/>
            <a:ext cx="11064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All 4 pillars are now covered. Together they form the foundation of professional C# development.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65760" y="1609344"/>
            <a:ext cx="2747772" cy="4956048"/>
          </a:xfrm>
          <a:prstGeom prst="roundRect">
            <a:avLst>
              <a:gd fmla="val 3328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65760" y="1609344"/>
            <a:ext cx="2747772" cy="475488"/>
          </a:xfrm>
          <a:prstGeom prst="roundRect">
            <a:avLst>
              <a:gd fmla="val 19231" name="adj"/>
            </a:avLst>
          </a:prstGeom>
          <a:solidFill>
            <a:srgbClr val="10B981">
              <a:alpha val="45098"/>
            </a:srgbClr>
          </a:solidFill>
          <a:ln cap="flat" cmpd="sng" w="12700">
            <a:solidFill>
              <a:srgbClr val="10B981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1078992" y="1664208"/>
            <a:ext cx="18516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Encapsulation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48640" y="2523744"/>
            <a:ext cx="23820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Hide internal data. Expose only what is needed through controlled public interface.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548640" y="3401568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548640" y="3694176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private fields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48640" y="4023360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public properties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48640" y="4352544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validation in setter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548640" y="5943600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 tool: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548640" y="6199632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private / public / protected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3259836" y="1609344"/>
            <a:ext cx="2747772" cy="4956048"/>
          </a:xfrm>
          <a:prstGeom prst="roundRect">
            <a:avLst>
              <a:gd fmla="val 3328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3259836" y="1609344"/>
            <a:ext cx="2747772" cy="475488"/>
          </a:xfrm>
          <a:prstGeom prst="roundRect">
            <a:avLst>
              <a:gd fmla="val 19231" name="adj"/>
            </a:avLst>
          </a:prstGeom>
          <a:solidFill>
            <a:srgbClr val="3B82F6">
              <a:alpha val="45098"/>
            </a:srgbClr>
          </a:solidFill>
          <a:ln cap="flat" cmpd="sng" w="12700">
            <a:solidFill>
              <a:srgbClr val="3B82F6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3973068" y="1664208"/>
            <a:ext cx="18516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Inheritance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442716" y="2523744"/>
            <a:ext cx="23820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Child classes reuse and extend parent class. Promotes code reuse and IS-A relationships.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3442716" y="3401568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3442716" y="3694176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class Dog : Animal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3442716" y="4023360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base(args)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3442716" y="4352544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virtual / override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442716" y="5943600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 tool: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442716" y="6199632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: (colon) syntax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6153912" y="1609344"/>
            <a:ext cx="2747772" cy="4956048"/>
          </a:xfrm>
          <a:prstGeom prst="roundRect">
            <a:avLst>
              <a:gd fmla="val 3328" name="adj"/>
            </a:avLst>
          </a:prstGeom>
          <a:solidFill>
            <a:srgbClr val="1E293B"/>
          </a:solidFill>
          <a:ln cap="flat" cmpd="sng" w="15225">
            <a:solidFill>
              <a:srgbClr val="7C3AE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6153912" y="1609344"/>
            <a:ext cx="2747772" cy="475488"/>
          </a:xfrm>
          <a:prstGeom prst="roundRect">
            <a:avLst>
              <a:gd fmla="val 19231" name="adj"/>
            </a:avLst>
          </a:prstGeom>
          <a:solidFill>
            <a:srgbClr val="7C3AED">
              <a:alpha val="45098"/>
            </a:srgbClr>
          </a:solidFill>
          <a:ln cap="flat" cmpd="sng" w="12700">
            <a:solidFill>
              <a:srgbClr val="7C3AED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6867144" y="1664208"/>
            <a:ext cx="18516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Polymorphism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6336792" y="2523744"/>
            <a:ext cx="23820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Same method, many behaviors. Runtime decides which version to call based on actual type.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336792" y="3401568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336792" y="3694176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Animal a = new Dog()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6336792" y="4023360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override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336792" y="4352544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List&lt;Animal&gt;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336792" y="5943600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 tool: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6336792" y="6199632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virtual + override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9047988" y="1609344"/>
            <a:ext cx="2747772" cy="4956048"/>
          </a:xfrm>
          <a:prstGeom prst="roundRect">
            <a:avLst>
              <a:gd fmla="val 3328" name="adj"/>
            </a:avLst>
          </a:prstGeom>
          <a:solidFill>
            <a:srgbClr val="1E293B"/>
          </a:solidFill>
          <a:ln cap="flat" cmpd="sng" w="15225">
            <a:solidFill>
              <a:srgbClr val="6366F1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9047988" y="1609344"/>
            <a:ext cx="2747772" cy="475488"/>
          </a:xfrm>
          <a:prstGeom prst="roundRect">
            <a:avLst>
              <a:gd fmla="val 19231" name="adj"/>
            </a:avLst>
          </a:prstGeom>
          <a:solidFill>
            <a:srgbClr val="6366F1">
              <a:alpha val="45098"/>
            </a:srgbClr>
          </a:solidFill>
          <a:ln cap="flat" cmpd="sng" w="12700">
            <a:solidFill>
              <a:srgbClr val="6366F1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9761220" y="1664208"/>
            <a:ext cx="18516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Abstraction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230868" y="2523744"/>
            <a:ext cx="23820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Hide complexity. Expose only what is necessary. Define contracts through abstract classes and interfaces.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9230868" y="3401568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9230868" y="3694176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abstract class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9230868" y="4023360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interface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9230868" y="4352544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IAnimal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9230868" y="4681728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• Dependency Injection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9230868" y="5943600"/>
            <a:ext cx="23820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 tool: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9230868" y="6199632"/>
            <a:ext cx="23820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6366F1"/>
                </a:solidFill>
                <a:latin typeface="Courier New"/>
                <a:ea typeface="Courier New"/>
                <a:cs typeface="Courier New"/>
                <a:sym typeface="Courier New"/>
              </a:rPr>
              <a:t>abstract / interface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365760" y="164592"/>
            <a:ext cx="11430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 — Interfaces &amp; Abstraction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 cap="flat" cmpd="sng" w="12700">
            <a:solidFill>
              <a:srgbClr val="06B6D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365760" y="731520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6366F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548640" y="80467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Interface Syntax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48640" y="1170432"/>
            <a:ext cx="3346704" cy="27432"/>
          </a:xfrm>
          <a:prstGeom prst="rect">
            <a:avLst/>
          </a:prstGeom>
          <a:solidFill>
            <a:srgbClr val="6366F1">
              <a:alpha val="34902"/>
            </a:srgbClr>
          </a:solidFill>
          <a:ln cap="flat" cmpd="sng" w="12700">
            <a:solidFill>
              <a:srgbClr val="6366F1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548640" y="124358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interface IAnimal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48640" y="159105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48640" y="193852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Name { get; set;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548640" y="228600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void MakeSound();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548640" y="263347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224528" y="731520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10B981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407408" y="80467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Implementing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4407408" y="1170432"/>
            <a:ext cx="3346704" cy="27432"/>
          </a:xfrm>
          <a:prstGeom prst="rect">
            <a:avLst/>
          </a:prstGeom>
          <a:solidFill>
            <a:srgbClr val="10B981">
              <a:alpha val="34902"/>
            </a:srgbClr>
          </a:solidFill>
          <a:ln cap="flat" cmpd="sng" w="12700">
            <a:solidFill>
              <a:srgbClr val="10B981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4407408" y="124358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Dog : IAnimal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4407408" y="159105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407408" y="193852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string Name { get; set;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4407408" y="228600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void MakeSound() =&gt; ...;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4407408" y="263347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8083296" y="731520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3B82F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8266176" y="80467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Multiple Interfaces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8266176" y="1170432"/>
            <a:ext cx="3346704" cy="27432"/>
          </a:xfrm>
          <a:prstGeom prst="rect">
            <a:avLst/>
          </a:prstGeom>
          <a:solidFill>
            <a:srgbClr val="3B82F6">
              <a:alpha val="34902"/>
            </a:srgbClr>
          </a:solidFill>
          <a:ln cap="flat" cmpd="sng" w="12700">
            <a:solidFill>
              <a:srgbClr val="3B82F6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8266176" y="124358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Dog : IAnimal, ITrainable {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8266176" y="159105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one parent class allowed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8266176" y="193852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unlimited interfaces allowed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365760" y="2706624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F59E0B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548640" y="277977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Interface vs Abstract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48640" y="3145536"/>
            <a:ext cx="3346704" cy="27432"/>
          </a:xfrm>
          <a:prstGeom prst="rect">
            <a:avLst/>
          </a:prstGeom>
          <a:solidFill>
            <a:srgbClr val="F59E0B">
              <a:alpha val="34902"/>
            </a:srgbClr>
          </a:solidFill>
          <a:ln cap="flat" cmpd="sng" w="12700">
            <a:solidFill>
              <a:srgbClr val="F59E0B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548640" y="321868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 → contract only, no fields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48640" y="356616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abstract   → can have fields + code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48640" y="391363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interface  → multiple allowed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48640" y="426110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abstract   → one parent only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224528" y="2706624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F9731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4407408" y="277977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Explicit Implementation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4407408" y="3145536"/>
            <a:ext cx="3346704" cy="27432"/>
          </a:xfrm>
          <a:prstGeom prst="rect">
            <a:avLst/>
          </a:prstGeom>
          <a:solidFill>
            <a:srgbClr val="F97316">
              <a:alpha val="34902"/>
            </a:srgbClr>
          </a:solidFill>
          <a:ln cap="flat" cmpd="sng" w="12700">
            <a:solidFill>
              <a:srgbClr val="F97316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4407408" y="321868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void ILogger.Log(string m) {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407408" y="356616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use when two interfaces conflict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407408" y="391363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must cast to interface to call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8083296" y="2706624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7C3AED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8266176" y="277977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Built-in Interfaces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8266176" y="3145536"/>
            <a:ext cx="3346704" cy="27432"/>
          </a:xfrm>
          <a:prstGeom prst="rect">
            <a:avLst/>
          </a:prstGeom>
          <a:solidFill>
            <a:srgbClr val="7C3AED">
              <a:alpha val="34902"/>
            </a:srgbClr>
          </a:solidFill>
          <a:ln cap="flat" cmpd="sng" w="12700">
            <a:solidFill>
              <a:srgbClr val="7C3AED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8266176" y="321868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IComparable&lt;T&gt;  → sorting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8266176" y="356616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IEquatable&lt;T&gt;   → equality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8266176" y="391363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IEnumerable&lt;T&gt;  → foreach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8266176" y="426110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IDisposable     → cleanup (using)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365760" y="4681728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84CC16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548640" y="475488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4CC16"/>
                </a:solidFill>
                <a:latin typeface="Calibri"/>
                <a:ea typeface="Calibri"/>
                <a:cs typeface="Calibri"/>
                <a:sym typeface="Calibri"/>
              </a:rPr>
              <a:t>ISP Principle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48640" y="5120640"/>
            <a:ext cx="3346704" cy="27432"/>
          </a:xfrm>
          <a:prstGeom prst="rect">
            <a:avLst/>
          </a:prstGeom>
          <a:solidFill>
            <a:srgbClr val="84CC16">
              <a:alpha val="34902"/>
            </a:srgbClr>
          </a:solidFill>
          <a:ln cap="flat" cmpd="sng" w="12700">
            <a:solidFill>
              <a:srgbClr val="84CC16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548640" y="519379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// Split fat interfaces into small ones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48640" y="554126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interface IWorkable { void Work();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48640" y="588873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interface IEatable  { void Eat(); 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48640" y="623620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implement only what you need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4224528" y="4681728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06B6D4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4407408" y="475488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Dependency Injection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407408" y="5120640"/>
            <a:ext cx="3346704" cy="27432"/>
          </a:xfrm>
          <a:prstGeom prst="rect">
            <a:avLst/>
          </a:prstGeom>
          <a:solidFill>
            <a:srgbClr val="06B6D4">
              <a:alpha val="34902"/>
            </a:srgbClr>
          </a:solidFill>
          <a:ln cap="flat" cmpd="sng" w="12700">
            <a:solidFill>
              <a:srgbClr val="06B6D4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4407408" y="519379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private readonly INotifier _n;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407408" y="554126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public Service(INotifier 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407408" y="588873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 _n = n; 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407408" y="623620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swap implementations freely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8083296" y="4681728"/>
            <a:ext cx="3712464" cy="1828800"/>
          </a:xfrm>
          <a:prstGeom prst="roundRect">
            <a:avLst>
              <a:gd fmla="val 5000" name="adj"/>
            </a:avLst>
          </a:prstGeom>
          <a:solidFill>
            <a:srgbClr val="1E293B"/>
          </a:solidFill>
          <a:ln cap="flat" cmpd="sng" w="15225">
            <a:solidFill>
              <a:srgbClr val="0D948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8266176" y="475488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Default Methods (C# 8+)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8266176" y="5120640"/>
            <a:ext cx="3346704" cy="27432"/>
          </a:xfrm>
          <a:prstGeom prst="rect">
            <a:avLst/>
          </a:prstGeom>
          <a:solidFill>
            <a:srgbClr val="0D9488">
              <a:alpha val="34902"/>
            </a:srgbClr>
          </a:solidFill>
          <a:ln cap="flat" cmpd="sng" w="12700">
            <a:solidFill>
              <a:srgbClr val="0D9488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8266176" y="5193792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ILogger 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8266176" y="554126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void Log(string m);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8266176" y="5888736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void LogInfo(string 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8266176" y="6236208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    =&gt; Log("[INFO] " + m);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8266176" y="6583680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