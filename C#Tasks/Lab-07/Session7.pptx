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69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</p:sldIdLst>
  <p:sldSz cx="12161838" cy="6858000"/>
  <p:notesSz cx="6858000" cy="121618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8" dt="2026-08-15T09:16:26.553"/>
    <p1510:client id="{454ABB74-6B85-802F-CD8E-C7C981F10D8B}" v="95" dt="2026-08-15T22:33:31.046"/>
    <p1510:client id="{B20CB55E-2178-A8AD-ED24-343D379A6902}" v="40" dt="2026-08-16T08:32:35.9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756D9C-39E8-47E8-97B3-DD596C72AE5F}" type="datetimeFigureOut">
              <a:t>8/16/2026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09550" y="1520825"/>
            <a:ext cx="7277100" cy="4103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53113"/>
            <a:ext cx="5486400" cy="47879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52238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52238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2B8683-350B-4F1F-8C45-DEDA9BF89CA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205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19075" y="1524000"/>
            <a:ext cx="7296150" cy="4114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19075" y="1524000"/>
            <a:ext cx="7296150" cy="4114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483"/>
            <a:ext cx="12131433" cy="684103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09241" y="-1359723"/>
            <a:ext cx="5290399" cy="5290399"/>
          </a:xfrm>
          <a:prstGeom prst="ellipse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6366F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86381" y="4204543"/>
            <a:ext cx="4743117" cy="4743117"/>
          </a:xfrm>
          <a:prstGeom prst="ellipse">
            <a:avLst/>
          </a:prstGeom>
          <a:solidFill>
            <a:srgbClr val="0D9488">
              <a:alpha val="16000"/>
            </a:srgbClr>
          </a:solidFill>
          <a:ln w="12700">
            <a:solidFill>
              <a:srgbClr val="0D9488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16758" y="4569172"/>
            <a:ext cx="2736413" cy="2736413"/>
          </a:xfrm>
          <a:prstGeom prst="ellipse">
            <a:avLst/>
          </a:prstGeom>
          <a:solidFill>
            <a:srgbClr val="06B6D4">
              <a:alpha val="14000"/>
            </a:srgbClr>
          </a:solidFill>
          <a:ln w="12700">
            <a:solidFill>
              <a:srgbClr val="06B6D4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550" y="3708554"/>
            <a:ext cx="1778669" cy="364855"/>
          </a:xfrm>
          <a:prstGeom prst="roundRect">
            <a:avLst>
              <a:gd name="adj" fmla="val 22500"/>
            </a:avLst>
          </a:prstGeom>
          <a:solidFill>
            <a:srgbClr val="6366F1">
              <a:alpha val="42000"/>
            </a:srgbClr>
          </a:solidFill>
          <a:ln w="12700">
            <a:solidFill>
              <a:srgbClr val="6366F1">
                <a:alpha val="5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550" y="3708554"/>
            <a:ext cx="1778669" cy="3648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Method &amp; Query Syntax</a:t>
            </a:r>
            <a:endParaRPr lang="en-US" sz="11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374674" y="3708554"/>
            <a:ext cx="1778669" cy="364855"/>
          </a:xfrm>
          <a:prstGeom prst="roundRect">
            <a:avLst>
              <a:gd name="adj" fmla="val 22500"/>
            </a:avLst>
          </a:prstGeom>
          <a:solidFill>
            <a:srgbClr val="3B82F6">
              <a:alpha val="42000"/>
            </a:srgbClr>
          </a:solidFill>
          <a:ln w="12700">
            <a:solidFill>
              <a:srgbClr val="3B82F6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4674" y="3708554"/>
            <a:ext cx="1778669" cy="3648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Filtering &amp; Projection</a:t>
            </a:r>
            <a:endParaRPr lang="en-US" sz="11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262800" y="3708554"/>
            <a:ext cx="1778669" cy="364855"/>
          </a:xfrm>
          <a:prstGeom prst="roundRect">
            <a:avLst>
              <a:gd name="adj" fmla="val 22500"/>
            </a:avLst>
          </a:prstGeom>
          <a:solidFill>
            <a:srgbClr val="7C3AED">
              <a:alpha val="42000"/>
            </a:srgbClr>
          </a:solidFill>
          <a:ln w="12700">
            <a:solidFill>
              <a:srgbClr val="7C3AED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62800" y="3708554"/>
            <a:ext cx="1778669" cy="3648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Aggregation &amp; Joins</a:t>
            </a:r>
            <a:endParaRPr lang="en-US" sz="11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150926" y="3708554"/>
            <a:ext cx="1778669" cy="364855"/>
          </a:xfrm>
          <a:prstGeom prst="roundRect">
            <a:avLst>
              <a:gd name="adj" fmla="val 22500"/>
            </a:avLst>
          </a:prstGeom>
          <a:solidFill>
            <a:srgbClr val="0D9488">
              <a:alpha val="42000"/>
            </a:srgbClr>
          </a:solidFill>
          <a:ln w="12700">
            <a:solidFill>
              <a:srgbClr val="0D9488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50926" y="3708554"/>
            <a:ext cx="1778669" cy="3648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Aggregation &amp; Joins</a:t>
            </a:r>
            <a:endParaRPr lang="en-US" sz="11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321239F-8852-06A2-4D0F-D20736C330D6}"/>
              </a:ext>
            </a:extLst>
          </p:cNvPr>
          <p:cNvSpPr/>
          <p:nvPr/>
        </p:nvSpPr>
        <p:spPr>
          <a:xfrm>
            <a:off x="477523" y="127508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</a:t>
            </a:r>
            <a:endParaRPr lang="en-US" sz="66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3F1FF922-F45E-8A67-330E-3DA261080A01}"/>
              </a:ext>
            </a:extLst>
          </p:cNvPr>
          <p:cNvSpPr/>
          <p:nvPr/>
        </p:nvSpPr>
        <p:spPr>
          <a:xfrm>
            <a:off x="477523" y="22534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Language Integrated Query</a:t>
            </a:r>
            <a:endParaRPr lang="en-US" sz="2400">
              <a:solidFill>
                <a:srgbClr val="00B0F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91AA7569-18D1-F0AD-9C68-D2F0D83F29F9}"/>
              </a:ext>
            </a:extLst>
          </p:cNvPr>
          <p:cNvSpPr/>
          <p:nvPr/>
        </p:nvSpPr>
        <p:spPr>
          <a:xfrm>
            <a:off x="477523" y="28295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arrays, collections, and objects with the same declarative,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syntax — right inside C#.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504983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CONCEPT 01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LINQ?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67308"/>
            <a:ext cx="64008" cy="6400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585216" y="1005840"/>
            <a:ext cx="4837176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syntax  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query arrays, lists, databases (EF Core), XML, and more using one consistent language.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60220"/>
            <a:ext cx="64008" cy="6400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585216" y="1698752"/>
            <a:ext cx="4837176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 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describe *what* result you want, not *how* to loop and build 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453132"/>
            <a:ext cx="64008" cy="6400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" y="2391664"/>
            <a:ext cx="4837176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 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checked by the compiler, with full IntelliSense support.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146044"/>
            <a:ext cx="64008" cy="6400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" y="3084576"/>
            <a:ext cx="4837176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System.Linq  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available on any IEnumerable&lt;T&gt; once the namespace is imported.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470916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4965192"/>
            <a:ext cx="548640" cy="548640"/>
          </a:xfrm>
          <a:prstGeom prst="ellipse">
            <a:avLst/>
          </a:prstGeom>
          <a:solidFill>
            <a:srgbClr val="38BDF8">
              <a:alpha val="16000"/>
            </a:srgbClr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4956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34440" y="470916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LINQ: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foreach loops, temp lists, and nested conditionals for every query.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60720" y="1143000"/>
            <a:ext cx="6035040" cy="2331720"/>
          </a:xfrm>
          <a:prstGeom prst="roundRect">
            <a:avLst>
              <a:gd name="adj" fmla="val 2353"/>
            </a:avLst>
          </a:prstGeom>
          <a:solidFill>
            <a:srgbClr val="111827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362456"/>
            <a:ext cx="5669280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result = new List&lt;int&gt;();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(var n in numbers)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 % 2 == 0)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result.Add(n * n);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result.Sort();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61888" y="1014984"/>
            <a:ext cx="1027786" cy="256032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</p:sp>
      <p:sp>
        <p:nvSpPr>
          <p:cNvPr id="19" name="Text 17"/>
          <p:cNvSpPr/>
          <p:nvPr/>
        </p:nvSpPr>
        <p:spPr>
          <a:xfrm>
            <a:off x="5961888" y="1010412"/>
            <a:ext cx="10277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LINQ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60720" y="3886200"/>
            <a:ext cx="6035040" cy="1691640"/>
          </a:xfrm>
          <a:prstGeom prst="roundRect">
            <a:avLst>
              <a:gd name="adj" fmla="val 3243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4105656"/>
            <a:ext cx="566928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result = numbers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.Where(n =&gt; n % 2 == 0)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.Select(n =&gt; n * n)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.OrderBy(n =&gt; n);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61888" y="3758184"/>
            <a:ext cx="802843" cy="256032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23" name="Text 21"/>
          <p:cNvSpPr/>
          <p:nvPr/>
        </p:nvSpPr>
        <p:spPr>
          <a:xfrm>
            <a:off x="5961888" y="3753612"/>
            <a:ext cx="8028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LINQ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784080" y="65471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10  |  03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78BFA"/>
                </a:solidFill>
                <a:latin typeface="Calibri"/>
                <a:ea typeface="Calibri"/>
                <a:cs typeface="Calibri"/>
              </a:rPr>
              <a:t>CONCEPT 02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Syntax vs. Query Syntax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641848" cy="2286000"/>
          </a:xfrm>
          <a:prstGeom prst="roundRect">
            <a:avLst>
              <a:gd name="adj" fmla="val 2400"/>
            </a:avLst>
          </a:prstGeom>
          <a:solidFill>
            <a:srgbClr val="11182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08176"/>
            <a:ext cx="527608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result = students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.Where(s =&gt; s.Grade &gt; 85)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.OrderByDescending(s =&gt; s.Grade)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.Select(s =&gt; s.Name);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102766" cy="256032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056132"/>
            <a:ext cx="11027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SYNTAX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53912" y="1188720"/>
            <a:ext cx="5641848" cy="2286000"/>
          </a:xfrm>
          <a:prstGeom prst="roundRect">
            <a:avLst>
              <a:gd name="adj" fmla="val 2400"/>
            </a:avLst>
          </a:prstGeom>
          <a:solidFill>
            <a:srgbClr val="11182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6792" y="1408176"/>
            <a:ext cx="527608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result =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s in students</a:t>
            </a:r>
            <a:endParaRPr lang="en-US" sz="1150" dirty="0"/>
          </a:p>
          <a:p>
            <a:pPr>
              <a:lnSpc>
                <a:spcPct val="122000"/>
              </a:lnSpc>
            </a:pPr>
            <a:r>
              <a:rPr lang="en-US" sz="1150" dirty="0">
                <a:solidFill>
                  <a:srgbClr val="34D399"/>
                </a:solidFill>
                <a:latin typeface="Courier New"/>
                <a:ea typeface="Courier New" pitchFamily="34" charset="-122"/>
                <a:cs typeface="Courier New"/>
              </a:rPr>
              <a:t>    where </a:t>
            </a:r>
            <a:r>
              <a:rPr lang="en-US" sz="1150" dirty="0" err="1">
                <a:solidFill>
                  <a:srgbClr val="34D399"/>
                </a:solidFill>
                <a:latin typeface="Courier New"/>
                <a:ea typeface="Courier New" pitchFamily="34" charset="-122"/>
                <a:cs typeface="Courier New"/>
              </a:rPr>
              <a:t>s.Grade</a:t>
            </a:r>
            <a:r>
              <a:rPr lang="en-US" sz="1150" dirty="0">
                <a:solidFill>
                  <a:srgbClr val="34D399"/>
                </a:solidFill>
                <a:latin typeface="Courier New"/>
                <a:ea typeface="Courier New" pitchFamily="34" charset="-122"/>
                <a:cs typeface="Courier New"/>
              </a:rPr>
              <a:t> &gt; 85</a:t>
            </a:r>
            <a:endParaRPr lang="en-US" sz="1150" dirty="0">
              <a:latin typeface="Courier New"/>
              <a:cs typeface="Courier New"/>
            </a:endParaRPr>
          </a:p>
          <a:p>
            <a:pPr>
              <a:lnSpc>
                <a:spcPct val="122000"/>
              </a:lnSpc>
            </a:pPr>
            <a:r>
              <a:rPr lang="en-US" sz="1150" dirty="0">
                <a:solidFill>
                  <a:srgbClr val="34D399"/>
                </a:solidFill>
                <a:latin typeface="Courier New"/>
                <a:ea typeface="Courier New" pitchFamily="34" charset="-122"/>
                <a:cs typeface="Courier New"/>
              </a:rPr>
              <a:t>    </a:t>
            </a:r>
            <a:r>
              <a:rPr lang="en-US" sz="1150" dirty="0" err="1">
                <a:solidFill>
                  <a:srgbClr val="34D399"/>
                </a:solidFill>
                <a:latin typeface="Courier New"/>
                <a:ea typeface="Courier New" pitchFamily="34" charset="-122"/>
                <a:cs typeface="Courier New"/>
              </a:rPr>
              <a:t>orderbys.Grade</a:t>
            </a:r>
            <a:r>
              <a:rPr lang="en-US" sz="1150" dirty="0">
                <a:solidFill>
                  <a:srgbClr val="34D399"/>
                </a:solidFill>
                <a:latin typeface="Courier New"/>
                <a:ea typeface="Courier New" pitchFamily="34" charset="-122"/>
                <a:cs typeface="Courier New"/>
              </a:rPr>
              <a:t> descending</a:t>
            </a:r>
            <a:endParaRPr lang="en-US" sz="1150" dirty="0">
              <a:latin typeface="Courier New"/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22000"/>
              </a:lnSpc>
            </a:pPr>
            <a:r>
              <a:rPr lang="en-US" sz="1150" dirty="0">
                <a:solidFill>
                  <a:srgbClr val="34D399"/>
                </a:solidFill>
                <a:latin typeface="Courier New"/>
                <a:ea typeface="Courier New" pitchFamily="34" charset="-122"/>
                <a:cs typeface="Courier New"/>
              </a:rPr>
              <a:t>    select </a:t>
            </a:r>
            <a:r>
              <a:rPr lang="en-US" sz="1150" dirty="0" err="1">
                <a:solidFill>
                  <a:srgbClr val="34D399"/>
                </a:solidFill>
                <a:latin typeface="Courier New"/>
                <a:ea typeface="Courier New" pitchFamily="34" charset="-122"/>
                <a:cs typeface="Courier New"/>
              </a:rPr>
              <a:t>s.Name</a:t>
            </a:r>
            <a:r>
              <a:rPr lang="en-US" sz="1150" dirty="0">
                <a:solidFill>
                  <a:srgbClr val="34D399"/>
                </a:solidFill>
                <a:latin typeface="Courier New"/>
                <a:ea typeface="Courier New" pitchFamily="34" charset="-122"/>
                <a:cs typeface="Courier New"/>
              </a:rPr>
              <a:t>;</a:t>
            </a:r>
            <a:endParaRPr lang="en-US" sz="1150" dirty="0">
              <a:latin typeface="Courier New"/>
              <a:cs typeface="Courier New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55080" y="1060704"/>
            <a:ext cx="1027786" cy="256032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056132"/>
            <a:ext cx="10277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SYNTAX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840480"/>
            <a:ext cx="11430000" cy="1600200"/>
          </a:xfrm>
          <a:prstGeom prst="roundRect">
            <a:avLst>
              <a:gd name="adj" fmla="val 4571"/>
            </a:avLst>
          </a:prstGeom>
          <a:solidFill>
            <a:srgbClr val="1E293B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98678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compile to the exact same IL — pick whichever reads more naturally for the query.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422775"/>
            <a:ext cx="64008" cy="6400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" y="4370832"/>
            <a:ext cx="10826496" cy="255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syntax  </a:t>
            </a: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every LINQ operator and is the most common style in real projects.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754245"/>
            <a:ext cx="64008" cy="6400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" y="4702302"/>
            <a:ext cx="10826496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syntax  </a:t>
            </a: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closer to SQL and shines for joins and multi-clause filters — but lacks operators like Count() or First(), so it's often mixed with method calls.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784080" y="65471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10  |  04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Where, Select &amp; OrderBy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712464" cy="1691640"/>
          </a:xfrm>
          <a:prstGeom prst="roundRect">
            <a:avLst>
              <a:gd name="adj" fmla="val 4324"/>
            </a:avLst>
          </a:prstGeom>
          <a:solidFill>
            <a:srgbClr val="1E293B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06424"/>
            <a:ext cx="3346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72184"/>
            <a:ext cx="3346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elements by a boolean condition.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258568"/>
            <a:ext cx="3346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nums.Where(n =&gt; n &gt; 10);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24528" y="960120"/>
            <a:ext cx="3712464" cy="1691640"/>
          </a:xfrm>
          <a:prstGeom prst="roundRect">
            <a:avLst>
              <a:gd name="adj" fmla="val 4324"/>
            </a:avLst>
          </a:prstGeom>
          <a:solidFill>
            <a:srgbClr val="1E293B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07408" y="1106424"/>
            <a:ext cx="3346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07408" y="1472184"/>
            <a:ext cx="3346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each element into a new shape.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07408" y="2258568"/>
            <a:ext cx="3346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nums.Select(n =&gt; n * 2);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83296" y="960120"/>
            <a:ext cx="3712464" cy="1691640"/>
          </a:xfrm>
          <a:prstGeom prst="roundRect">
            <a:avLst>
              <a:gd name="adj" fmla="val 4324"/>
            </a:avLst>
          </a:prstGeom>
          <a:solidFill>
            <a:srgbClr val="1E293B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6176" y="1106424"/>
            <a:ext cx="3346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OrderBy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66176" y="1472184"/>
            <a:ext cx="3346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ascending (use OrderByDescending to reverse).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66176" y="2258568"/>
            <a:ext cx="3346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nums.OrderBy(n =&gt; n);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11430000" cy="2377440"/>
          </a:xfrm>
          <a:prstGeom prst="roundRect">
            <a:avLst>
              <a:gd name="adj" fmla="val 2308"/>
            </a:avLst>
          </a:prstGeom>
          <a:solidFill>
            <a:srgbClr val="11182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191256"/>
            <a:ext cx="11064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topScores = students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.Where(s =&gt; s.Grade &gt;= 70)          </a:t>
            </a: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filter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.OrderByDescending(s =&gt; s.Grade)    </a:t>
            </a: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sort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.Select(s =&gt; new { s.Name, s.Grade });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(var s in topScores)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Console.WriteLine($"{s.Name}: {s.Grade}");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2843784"/>
            <a:ext cx="1327709" cy="256032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2839212"/>
            <a:ext cx="13277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CHAINED TOGETHER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784080" y="65471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10  |  05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&amp; Aggregate Functions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6675120" cy="2743200"/>
          </a:xfrm>
          <a:prstGeom prst="roundRect">
            <a:avLst>
              <a:gd name="adj" fmla="val 2000"/>
            </a:avLst>
          </a:prstGeom>
          <a:solidFill>
            <a:srgbClr val="11182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62456"/>
            <a:ext cx="630936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byGrade = students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.GroupBy(s =&gt; s.Grade / 10 * 10);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(var g in byGrade)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Console.WriteLine($"Band {g.Key}+: " +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$"{g.Count()} students");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" y="1014984"/>
            <a:ext cx="652882" cy="25603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010412"/>
            <a:ext cx="6528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4206240"/>
            <a:ext cx="6675120" cy="1691640"/>
          </a:xfrm>
          <a:prstGeom prst="roundRect">
            <a:avLst>
              <a:gd name="adj" fmla="val 3243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425696"/>
            <a:ext cx="630936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total   = scores.Sum();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count   = scores.Count(s =&gt; s &gt; 60);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avg  = scores.Average();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min     = scores.Min();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max     = scores.Max();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4078224"/>
            <a:ext cx="877824" cy="256032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4073652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0" y="1143000"/>
            <a:ext cx="4480560" cy="4160520"/>
          </a:xfrm>
          <a:prstGeom prst="roundRect">
            <a:avLst>
              <a:gd name="adj" fmla="val 1758"/>
            </a:avLst>
          </a:prstGeom>
          <a:solidFill>
            <a:srgbClr val="1E293B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1325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Cheat List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0" y="1789303"/>
            <a:ext cx="64008" cy="6400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Text 13"/>
          <p:cNvSpPr/>
          <p:nvPr/>
        </p:nvSpPr>
        <p:spPr>
          <a:xfrm>
            <a:off x="7717536" y="1737360"/>
            <a:ext cx="3877056" cy="255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Sum()  </a:t>
            </a: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of all values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498080" y="2196973"/>
            <a:ext cx="64008" cy="6400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7" name="Text 15"/>
          <p:cNvSpPr/>
          <p:nvPr/>
        </p:nvSpPr>
        <p:spPr>
          <a:xfrm>
            <a:off x="7717536" y="2145030"/>
            <a:ext cx="3877056" cy="255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Count()  </a:t>
            </a: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elements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498080" y="2604643"/>
            <a:ext cx="64008" cy="6400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7717536" y="2552700"/>
            <a:ext cx="3877056" cy="255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Average()  </a:t>
            </a: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value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498080" y="3012313"/>
            <a:ext cx="64008" cy="6400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7717536" y="2960370"/>
            <a:ext cx="3877056" cy="255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Min() / Max()  </a:t>
            </a: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/ largest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498080" y="3419983"/>
            <a:ext cx="64008" cy="6400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3" name="Text 21"/>
          <p:cNvSpPr/>
          <p:nvPr/>
        </p:nvSpPr>
        <p:spPr>
          <a:xfrm>
            <a:off x="7717536" y="3368040"/>
            <a:ext cx="3877056" cy="255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GroupBy()  </a:t>
            </a: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 by a key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784080" y="65471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10  |  06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— Combining Two Sequences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6675120" cy="3063240"/>
          </a:xfrm>
          <a:prstGeom prst="roundRect">
            <a:avLst>
              <a:gd name="adj" fmla="val 1791"/>
            </a:avLst>
          </a:prstGeom>
          <a:solidFill>
            <a:srgbClr val="111827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9625" y="1328893"/>
            <a:ext cx="6309360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enrolled =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students.Join(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courses,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 =&gt; s.CourseId,      // outer key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 =&gt; c.Id,            // inner key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(s, c) =&gt; new {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s.Name, c.Title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" y="1014984"/>
            <a:ext cx="877824" cy="256032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010412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0" y="1143000"/>
            <a:ext cx="4480560" cy="4160520"/>
          </a:xfrm>
          <a:prstGeom prst="roundRect">
            <a:avLst>
              <a:gd name="adj" fmla="val 1758"/>
            </a:avLst>
          </a:prstGeom>
          <a:solidFill>
            <a:srgbClr val="1E293B"/>
          </a:solidFill>
          <a:ln w="15875">
            <a:solidFill>
              <a:srgbClr val="FB71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1325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0" y="1786128"/>
            <a:ext cx="64008" cy="6400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1" name="Text 9"/>
          <p:cNvSpPr/>
          <p:nvPr/>
        </p:nvSpPr>
        <p:spPr>
          <a:xfrm>
            <a:off x="7717536" y="1737360"/>
            <a:ext cx="3877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elements from two sequences where keys are equal — just like a SQL INNER JOIN.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98080" y="2373884"/>
            <a:ext cx="64008" cy="6400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3" name="Text 11"/>
          <p:cNvSpPr/>
          <p:nvPr/>
        </p:nvSpPr>
        <p:spPr>
          <a:xfrm>
            <a:off x="7717536" y="2325116"/>
            <a:ext cx="3877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outer key selector and inner key selector must return the same type.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98080" y="2961640"/>
            <a:ext cx="64008" cy="6400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5" name="Text 13"/>
          <p:cNvSpPr/>
          <p:nvPr/>
        </p:nvSpPr>
        <p:spPr>
          <a:xfrm>
            <a:off x="7717536" y="2912872"/>
            <a:ext cx="3877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selector shapes the combined output for each matching pair.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98080" y="3549396"/>
            <a:ext cx="64008" cy="6400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7" name="Text 15"/>
          <p:cNvSpPr/>
          <p:nvPr/>
        </p:nvSpPr>
        <p:spPr>
          <a:xfrm>
            <a:off x="7717536" y="3500628"/>
            <a:ext cx="3877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GroupJoin() for a one-to-many, grouped result (like SQL's LEFT JOIN + GROUP BY).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480560"/>
            <a:ext cx="6675120" cy="868680"/>
          </a:xfrm>
          <a:prstGeom prst="roundRect">
            <a:avLst>
              <a:gd name="adj" fmla="val 6316"/>
            </a:avLst>
          </a:prstGeom>
          <a:solidFill>
            <a:srgbClr val="111827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700016"/>
            <a:ext cx="6309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 in students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 in courses on s.CourseId equals c.Id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new { s.Name, c.Title };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352544"/>
            <a:ext cx="1852574" cy="256032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4347972"/>
            <a:ext cx="1852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SYNTAX EQUIVALENT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784080" y="65471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10  |  07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Single, Any &amp; All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1430000" cy="694944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First()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880360" y="960120"/>
            <a:ext cx="4892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first match; throws if none exists.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909560" y="1069848"/>
            <a:ext cx="9144" cy="4754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8092440" y="960120"/>
            <a:ext cx="3703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students.First(s =&gt; s.Grade &gt; 90);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11430000" cy="694944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46504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FirstOrDefault()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880360" y="1746504"/>
            <a:ext cx="4892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Same, but returns default (null / 0) instead of throwing.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09560" y="1856232"/>
            <a:ext cx="9144" cy="4754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" name="Text 11"/>
          <p:cNvSpPr/>
          <p:nvPr/>
        </p:nvSpPr>
        <p:spPr>
          <a:xfrm>
            <a:off x="8092440" y="1746504"/>
            <a:ext cx="3703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students.FirstOrDefault(s =&gt; s.Id == 99);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532888"/>
            <a:ext cx="11430000" cy="694944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532888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Single()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880360" y="2532888"/>
            <a:ext cx="4892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one match; throws if zero or more than one.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909560" y="2642616"/>
            <a:ext cx="9144" cy="4754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8092440" y="2532888"/>
            <a:ext cx="3703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students.Single(s =&gt; s.Id == 7);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319272"/>
            <a:ext cx="11430000" cy="694944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5875">
            <a:solidFill>
              <a:srgbClr val="FB71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319272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Any()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2880360" y="3319272"/>
            <a:ext cx="4892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if at least one element matches (or the sequence isn't empty).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909560" y="3429000"/>
            <a:ext cx="9144" cy="4754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3" name="Text 21"/>
          <p:cNvSpPr/>
          <p:nvPr/>
        </p:nvSpPr>
        <p:spPr>
          <a:xfrm>
            <a:off x="8092440" y="3319272"/>
            <a:ext cx="3703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students.Any(s =&gt; s.Grade &lt; 50);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105656"/>
            <a:ext cx="11430000" cy="694944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105656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All()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2880360" y="4105656"/>
            <a:ext cx="4892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only if every element matches the condition.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909560" y="4215384"/>
            <a:ext cx="9144" cy="4754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8" name="Text 26"/>
          <p:cNvSpPr/>
          <p:nvPr/>
        </p:nvSpPr>
        <p:spPr>
          <a:xfrm>
            <a:off x="8092440" y="4105656"/>
            <a:ext cx="3703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students.All(s =&gt; s.Grade &gt;= 0);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784080" y="65471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10  |  08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ToList, ToArray &amp; ToDictionary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712464" cy="2651760"/>
          </a:xfrm>
          <a:prstGeom prst="roundRect">
            <a:avLst>
              <a:gd name="adj" fmla="val 2759"/>
            </a:avLst>
          </a:prstGeom>
          <a:solidFill>
            <a:srgbClr val="1E293B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24712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ToList()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435608"/>
            <a:ext cx="3346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List&lt;T&gt;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346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Materializes the query into a resizable List&lt;T&gt;. The most common terminal call.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3346704" cy="713232"/>
          </a:xfrm>
          <a:prstGeom prst="roundRect">
            <a:avLst>
              <a:gd name="adj" fmla="val 6410"/>
            </a:avLst>
          </a:prstGeom>
          <a:solidFill>
            <a:srgbClr val="111827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43200"/>
            <a:ext cx="3163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list = query.ToList();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24528" y="960120"/>
            <a:ext cx="3712464" cy="2651760"/>
          </a:xfrm>
          <a:prstGeom prst="roundRect">
            <a:avLst>
              <a:gd name="adj" fmla="val 2759"/>
            </a:avLst>
          </a:prstGeom>
          <a:solidFill>
            <a:srgbClr val="1E293B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07408" y="1124712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ToArray()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07408" y="1435608"/>
            <a:ext cx="3346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T[]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07408" y="1737360"/>
            <a:ext cx="3346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Materializes into a fixed-size array — slightly less overhead than a List.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07408" y="2743200"/>
            <a:ext cx="3346704" cy="713232"/>
          </a:xfrm>
          <a:prstGeom prst="roundRect">
            <a:avLst>
              <a:gd name="adj" fmla="val 6410"/>
            </a:avLst>
          </a:prstGeom>
          <a:solidFill>
            <a:srgbClr val="111827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8848" y="2743200"/>
            <a:ext cx="3163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arr = query.ToArray();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83296" y="960120"/>
            <a:ext cx="3712464" cy="2651760"/>
          </a:xfrm>
          <a:prstGeom prst="roundRect">
            <a:avLst>
              <a:gd name="adj" fmla="val 2759"/>
            </a:avLst>
          </a:prstGeom>
          <a:solidFill>
            <a:srgbClr val="1E293B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66176" y="1124712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ToDictionary()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66176" y="1435608"/>
            <a:ext cx="3346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Dictionary&lt;K,V&gt;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66176" y="1737360"/>
            <a:ext cx="3346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lookup keyed by a selector; keys must be unique.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66176" y="2743200"/>
            <a:ext cx="3346704" cy="713232"/>
          </a:xfrm>
          <a:prstGeom prst="roundRect">
            <a:avLst>
              <a:gd name="adj" fmla="val 6410"/>
            </a:avLst>
          </a:prstGeom>
          <a:solidFill>
            <a:srgbClr val="111827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57616" y="2743200"/>
            <a:ext cx="3163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map = query.ToDictionary(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 =&gt; s.Id, s =&gt; s.Name);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886200"/>
            <a:ext cx="1143000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15875">
            <a:solidFill>
              <a:srgbClr val="FB92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105656"/>
            <a:ext cx="502920" cy="502920"/>
          </a:xfrm>
          <a:prstGeom prst="ellipse">
            <a:avLst/>
          </a:prstGeom>
          <a:solidFill>
            <a:srgbClr val="FB923C">
              <a:alpha val="16000"/>
            </a:srgbClr>
          </a:solidFill>
          <a:ln w="15875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096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234440" y="3886200"/>
            <a:ext cx="10287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materialize? </a:t>
            </a: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calls execute the query immediately and store the results — useful before returning data from a method, caching it, or iterating multiple times without re-running the query.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784080" y="65471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10  |  09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vs. Immediate Execution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641848" cy="2743200"/>
          </a:xfrm>
          <a:prstGeom prst="roundRect">
            <a:avLst>
              <a:gd name="adj" fmla="val 2000"/>
            </a:avLst>
          </a:prstGeom>
          <a:solidFill>
            <a:srgbClr val="111827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08176"/>
            <a:ext cx="5276088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query = numbers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.Where(n =&gt; n &gt; 5);   </a:t>
            </a: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not run yet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 err="1">
                <a:solidFill>
                  <a:srgbClr val="CBD5E1"/>
                </a:solidFill>
                <a:latin typeface="Courier New"/>
                <a:ea typeface="Courier New" pitchFamily="34" charset="-122"/>
                <a:cs typeface="Courier New"/>
              </a:rPr>
              <a:t>numbers.Add</a:t>
            </a:r>
            <a:r>
              <a:rPr lang="en-US" sz="1150" dirty="0">
                <a:solidFill>
                  <a:srgbClr val="CBD5E1"/>
                </a:solidFill>
                <a:latin typeface="Courier New"/>
                <a:ea typeface="Courier New" pitchFamily="34" charset="-122"/>
                <a:cs typeface="Courier New"/>
              </a:rPr>
              <a:t>(10);</a:t>
            </a:r>
            <a:endParaRPr lang="en-US" sz="1150" dirty="0">
              <a:latin typeface="Courier New"/>
              <a:cs typeface="Courier New"/>
            </a:endParaRPr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(var n in query)   </a:t>
            </a: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runs here</a:t>
            </a:r>
            <a:endParaRPr lang="en-US" sz="1150" dirty="0"/>
          </a:p>
          <a:p>
            <a:pPr>
              <a:lnSpc>
                <a:spcPct val="122000"/>
              </a:lnSpc>
            </a:pPr>
            <a:r>
              <a:rPr lang="en-US" sz="1150" dirty="0">
                <a:solidFill>
                  <a:srgbClr val="CBD5E1"/>
                </a:solidFill>
                <a:latin typeface="Courier New"/>
                <a:ea typeface="Courier New" pitchFamily="34" charset="-122"/>
                <a:cs typeface="Courier New"/>
              </a:rPr>
              <a:t>    </a:t>
            </a:r>
            <a:r>
              <a:rPr lang="en-US" sz="1150" dirty="0" err="1">
                <a:solidFill>
                  <a:srgbClr val="CBD5E1"/>
                </a:solidFill>
                <a:latin typeface="Courier New"/>
                <a:ea typeface="Courier New" pitchFamily="34" charset="-122"/>
                <a:cs typeface="Courier New"/>
              </a:rPr>
              <a:t>Console.WriteLine</a:t>
            </a:r>
            <a:r>
              <a:rPr lang="en-US" sz="1150" dirty="0">
                <a:solidFill>
                  <a:srgbClr val="CBD5E1"/>
                </a:solidFill>
                <a:latin typeface="Courier New"/>
                <a:ea typeface="Courier New" pitchFamily="34" charset="-122"/>
                <a:cs typeface="Courier New"/>
              </a:rPr>
              <a:t>(n); </a:t>
            </a:r>
            <a:r>
              <a:rPr lang="en-US" sz="1100" dirty="0">
                <a:solidFill>
                  <a:schemeClr val="bg1">
                    <a:lumMod val="85000"/>
                  </a:schemeClr>
                </a:solidFill>
                <a:latin typeface="Courier New"/>
                <a:ea typeface="Courier New" pitchFamily="34" charset="-122"/>
                <a:cs typeface="Courier New"/>
              </a:rPr>
              <a:t>// have 10</a:t>
            </a:r>
            <a:r>
              <a:rPr lang="en-US" sz="1150" dirty="0">
                <a:solidFill>
                  <a:schemeClr val="bg1">
                    <a:lumMod val="85000"/>
                  </a:schemeClr>
                </a:solidFill>
                <a:latin typeface="Courier New"/>
                <a:ea typeface="Courier New" pitchFamily="34" charset="-122"/>
                <a:cs typeface="Courier New"/>
              </a:rPr>
              <a:t>  </a:t>
            </a:r>
            <a:endParaRPr lang="en-US" sz="1150" dirty="0">
              <a:solidFill>
                <a:schemeClr val="bg1">
                  <a:lumMod val="85000"/>
                </a:schemeClr>
              </a:solidFill>
              <a:latin typeface="Courier New"/>
              <a:cs typeface="Courier New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727862" cy="256032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056132"/>
            <a:ext cx="7278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53912" y="1188720"/>
            <a:ext cx="5641848" cy="2743200"/>
          </a:xfrm>
          <a:prstGeom prst="roundRect">
            <a:avLst>
              <a:gd name="adj" fmla="val 2000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6792" y="1408176"/>
            <a:ext cx="5276088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list = numbers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.Where(n =&gt; n &gt; 5)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8BDF8"/>
                </a:solidFill>
                <a:latin typeface="Courier New"/>
                <a:ea typeface="Courier New" pitchFamily="34" charset="-122"/>
                <a:cs typeface="Courier New"/>
              </a:rPr>
              <a:t>    .</a:t>
            </a:r>
            <a:r>
              <a:rPr lang="en-US" sz="1150" dirty="0" err="1">
                <a:solidFill>
                  <a:srgbClr val="38BDF8"/>
                </a:solidFill>
                <a:latin typeface="Courier New"/>
                <a:ea typeface="Courier New" pitchFamily="34" charset="-122"/>
                <a:cs typeface="Courier New"/>
              </a:rPr>
              <a:t>ToList</a:t>
            </a:r>
            <a:r>
              <a:rPr lang="en-US" sz="1150" dirty="0">
                <a:solidFill>
                  <a:srgbClr val="38BDF8"/>
                </a:solidFill>
                <a:latin typeface="Courier New"/>
                <a:ea typeface="Courier New" pitchFamily="34" charset="-122"/>
                <a:cs typeface="Courier New"/>
              </a:rPr>
              <a:t>();          </a:t>
            </a:r>
            <a:r>
              <a:rPr lang="en-US" sz="1150" dirty="0">
                <a:solidFill>
                  <a:srgbClr val="64748B"/>
                </a:solidFill>
                <a:latin typeface="Courier New"/>
                <a:ea typeface="Courier New" pitchFamily="34" charset="-122"/>
                <a:cs typeface="Courier New"/>
              </a:rPr>
              <a:t>// runs now</a:t>
            </a:r>
            <a:endParaRPr lang="en-US" sz="1150" dirty="0">
              <a:latin typeface="Courier New"/>
              <a:cs typeface="Courier New"/>
            </a:endParaRPr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 err="1">
                <a:solidFill>
                  <a:srgbClr val="CBD5E1"/>
                </a:solidFill>
                <a:latin typeface="Courier New"/>
                <a:ea typeface="Courier New" pitchFamily="34" charset="-122"/>
                <a:cs typeface="Courier New"/>
              </a:rPr>
              <a:t>numbers.Add</a:t>
            </a:r>
            <a:r>
              <a:rPr lang="en-US" sz="1150" dirty="0">
                <a:solidFill>
                  <a:srgbClr val="CBD5E1"/>
                </a:solidFill>
                <a:latin typeface="Courier New"/>
                <a:ea typeface="Courier New" pitchFamily="34" charset="-122"/>
                <a:cs typeface="Courier New"/>
              </a:rPr>
              <a:t>(10);</a:t>
            </a:r>
            <a:endParaRPr lang="en-US" sz="1150" dirty="0">
              <a:latin typeface="Courier New"/>
              <a:cs typeface="Courier New"/>
            </a:endParaRPr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(var n in list)</a:t>
            </a:r>
            <a:endParaRPr lang="en-US" sz="1150" dirty="0"/>
          </a:p>
          <a:p>
            <a:pPr>
              <a:lnSpc>
                <a:spcPct val="122000"/>
              </a:lnSpc>
            </a:pPr>
            <a:r>
              <a:rPr lang="en-US" sz="1150" dirty="0">
                <a:solidFill>
                  <a:srgbClr val="CBD5E1"/>
                </a:solidFill>
                <a:latin typeface="Courier New"/>
                <a:ea typeface="Courier New" pitchFamily="34" charset="-122"/>
                <a:cs typeface="Courier New"/>
              </a:rPr>
              <a:t>    </a:t>
            </a:r>
            <a:r>
              <a:rPr lang="en-US" sz="1150" dirty="0" err="1">
                <a:solidFill>
                  <a:srgbClr val="CBD5E1"/>
                </a:solidFill>
                <a:latin typeface="Courier New"/>
                <a:ea typeface="Courier New" pitchFamily="34" charset="-122"/>
                <a:cs typeface="Courier New"/>
              </a:rPr>
              <a:t>Console.WriteLine</a:t>
            </a:r>
            <a:r>
              <a:rPr lang="en-US" sz="1150" dirty="0">
                <a:solidFill>
                  <a:srgbClr val="CBD5E1"/>
                </a:solidFill>
                <a:latin typeface="Courier New"/>
                <a:ea typeface="Courier New" pitchFamily="34" charset="-122"/>
                <a:cs typeface="Courier New"/>
              </a:rPr>
              <a:t>(n); // </a:t>
            </a:r>
            <a:r>
              <a:rPr lang="en-US" sz="1150" dirty="0">
                <a:solidFill>
                  <a:schemeClr val="bg1">
                    <a:lumMod val="85000"/>
                  </a:schemeClr>
                </a:solidFill>
                <a:latin typeface="Courier New"/>
                <a:ea typeface="Courier New" pitchFamily="34" charset="-122"/>
                <a:cs typeface="Courier New"/>
              </a:rPr>
              <a:t>not have 10</a:t>
            </a:r>
            <a:endParaRPr lang="en-US" sz="1150" dirty="0">
              <a:solidFill>
                <a:schemeClr val="bg1">
                  <a:lumMod val="85000"/>
                </a:schemeClr>
              </a:solidFill>
              <a:latin typeface="Courier New"/>
              <a:cs typeface="Courier New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55080" y="1060704"/>
            <a:ext cx="802843" cy="256032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056132"/>
            <a:ext cx="8028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4251960"/>
            <a:ext cx="1143000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5875">
            <a:solidFill>
              <a:srgbClr val="818C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468495"/>
            <a:ext cx="64008" cy="6400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4416552"/>
            <a:ext cx="10826496" cy="255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 </a:t>
            </a: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Where, Select, OrderBy, GroupBy — the query builds a plan but doesn't run until enumerated (foreach, or a terminal call).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825365"/>
            <a:ext cx="64008" cy="6400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4773422"/>
            <a:ext cx="10826496" cy="255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 </a:t>
            </a: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ToList, ToArray, Count(), Sum(), First() — these force the query to execute right away and return a concrete result.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784080" y="65471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10  |  10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 on Custom Objects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206240" cy="1828800"/>
          </a:xfrm>
          <a:prstGeom prst="roundRect">
            <a:avLst>
              <a:gd name="adj" fmla="val 3000"/>
            </a:avLst>
          </a:prstGeom>
          <a:solidFill>
            <a:srgbClr val="11182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62456"/>
            <a:ext cx="3840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Student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Name { get; set; }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int Grade { get; set; }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Major { get; set; }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" y="1014984"/>
            <a:ext cx="802843" cy="256032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010412"/>
            <a:ext cx="8028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3108960"/>
            <a:ext cx="420624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552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Object Works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657473"/>
            <a:ext cx="64008" cy="6400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3611880"/>
            <a:ext cx="3602736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 works on any IEnumerable&lt;T&gt; — including List&lt;Student&gt;, T[], or a database DbSet&lt;T&gt;.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203065"/>
            <a:ext cx="64008" cy="6400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" y="4157472"/>
            <a:ext cx="3602736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Lambdas access properties directly: s =&gt; s.Grade &gt; 85.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748657"/>
            <a:ext cx="64008" cy="6400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" y="4703064"/>
            <a:ext cx="3602736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operators to filter, sort, group, then project into new anonymous types.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46320" y="1143000"/>
            <a:ext cx="6949440" cy="4069080"/>
          </a:xfrm>
          <a:prstGeom prst="roundRect">
            <a:avLst>
              <a:gd name="adj" fmla="val 1348"/>
            </a:avLst>
          </a:prstGeom>
          <a:solidFill>
            <a:srgbClr val="11182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362456"/>
            <a:ext cx="6583680" cy="375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List&lt;Student&gt; students = GetStudents();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csHonors = students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.Where(s =&gt; s.Major == "CS" &amp;&amp; s.Grade &gt;= 85)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.OrderByDescending(s =&gt; s.Grade)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.Select(s =&gt; new { s.Name, s.Grade })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.ToList();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(var s in csHonors)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Console.WriteLine($"{s.Name} — {s.Grade}");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Layla — 96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Omar — 91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47488" y="1014984"/>
            <a:ext cx="1477670" cy="256032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19" name="Text 17"/>
          <p:cNvSpPr/>
          <p:nvPr/>
        </p:nvSpPr>
        <p:spPr>
          <a:xfrm>
            <a:off x="5047488" y="1010412"/>
            <a:ext cx="1477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THE MODEL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784080" y="65471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10  |  11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Cheat Sheet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747772" cy="3246120"/>
          </a:xfrm>
          <a:prstGeom prst="roundRect">
            <a:avLst>
              <a:gd name="adj" fmla="val 2662"/>
            </a:avLst>
          </a:prstGeom>
          <a:solidFill>
            <a:srgbClr val="1E293B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2747772" cy="475488"/>
          </a:xfrm>
          <a:prstGeom prst="roundRect">
            <a:avLst>
              <a:gd name="adj" fmla="val 15385"/>
            </a:avLst>
          </a:prstGeom>
          <a:solidFill>
            <a:srgbClr val="38BDF8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93776" y="960120"/>
            <a:ext cx="24917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&amp; Shaping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3776" y="1581912"/>
            <a:ext cx="24917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Where(predicate)</a:t>
            </a:r>
            <a:endParaRPr lang="en-US" sz="100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Select(selector)</a:t>
            </a:r>
            <a:endParaRPr lang="en-US" sz="100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OrderBy / OrderByDescending</a:t>
            </a:r>
            <a:endParaRPr lang="en-US" sz="100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Take(n) / Skip(n)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59836" y="960120"/>
            <a:ext cx="2747772" cy="3246120"/>
          </a:xfrm>
          <a:prstGeom prst="roundRect">
            <a:avLst>
              <a:gd name="adj" fmla="val 2662"/>
            </a:avLst>
          </a:prstGeom>
          <a:solidFill>
            <a:srgbClr val="1E293B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59836" y="960120"/>
            <a:ext cx="2747772" cy="475488"/>
          </a:xfrm>
          <a:prstGeom prst="roundRect">
            <a:avLst>
              <a:gd name="adj" fmla="val 15385"/>
            </a:avLst>
          </a:prstGeom>
          <a:solidFill>
            <a:srgbClr val="FBBF24">
              <a:alpha val="1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387852" y="960120"/>
            <a:ext cx="24917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&amp; Aggregating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7852" y="1581912"/>
            <a:ext cx="24917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GroupBy(key)</a:t>
            </a:r>
            <a:endParaRPr lang="en-US" sz="100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/ Average / Min / Max</a:t>
            </a:r>
            <a:endParaRPr lang="en-US" sz="100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Count(predicate?)</a:t>
            </a:r>
            <a:endParaRPr lang="en-US" sz="100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Join(inner, keys, result)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53912" y="960120"/>
            <a:ext cx="2747772" cy="3246120"/>
          </a:xfrm>
          <a:prstGeom prst="roundRect">
            <a:avLst>
              <a:gd name="adj" fmla="val 2662"/>
            </a:avLst>
          </a:prstGeom>
          <a:solidFill>
            <a:srgbClr val="1E293B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53912" y="960120"/>
            <a:ext cx="2747772" cy="475488"/>
          </a:xfrm>
          <a:prstGeom prst="roundRect">
            <a:avLst>
              <a:gd name="adj" fmla="val 15385"/>
            </a:avLst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281928" y="960120"/>
            <a:ext cx="24917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Single-Element Lookups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81928" y="1581912"/>
            <a:ext cx="24917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/ FirstOrDefault</a:t>
            </a:r>
            <a:endParaRPr lang="en-US" sz="100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 / SingleOrDefault</a:t>
            </a:r>
            <a:endParaRPr lang="en-US" sz="100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Any(predicate?) / All(predicate)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47988" y="960120"/>
            <a:ext cx="2747772" cy="3246120"/>
          </a:xfrm>
          <a:prstGeom prst="roundRect">
            <a:avLst>
              <a:gd name="adj" fmla="val 2662"/>
            </a:avLst>
          </a:prstGeom>
          <a:solidFill>
            <a:srgbClr val="1E293B"/>
          </a:solidFill>
          <a:ln w="15875">
            <a:solidFill>
              <a:srgbClr val="FB92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47988" y="960120"/>
            <a:ext cx="2747772" cy="475488"/>
          </a:xfrm>
          <a:prstGeom prst="roundRect">
            <a:avLst>
              <a:gd name="adj" fmla="val 15385"/>
            </a:avLst>
          </a:prstGeom>
          <a:solidFill>
            <a:srgbClr val="FB923C">
              <a:alpha val="1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176004" y="960120"/>
            <a:ext cx="24917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76004" y="1581912"/>
            <a:ext cx="24917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ToList()</a:t>
            </a:r>
            <a:endParaRPr lang="en-US" sz="100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ToArray()</a:t>
            </a:r>
            <a:endParaRPr lang="en-US" sz="100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ToDictionary(key, value?)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480560"/>
            <a:ext cx="1143000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80160" y="44805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 queries stay deferred until you enumerate or call a materializing method — always add ToList()/ToArray() before returning a query from a method.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784080" y="65471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10  |  13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483"/>
            <a:ext cx="12131433" cy="684103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09241" y="-1359723"/>
            <a:ext cx="5290399" cy="5290399"/>
          </a:xfrm>
          <a:prstGeom prst="ellipse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6366F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68207" y="4113103"/>
            <a:ext cx="4743117" cy="4743117"/>
          </a:xfrm>
          <a:prstGeom prst="ellipse">
            <a:avLst/>
          </a:prstGeom>
          <a:solidFill>
            <a:srgbClr val="0D9488">
              <a:alpha val="16000"/>
            </a:srgbClr>
          </a:solidFill>
          <a:ln w="12700">
            <a:solidFill>
              <a:srgbClr val="0D9488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16758" y="4569172"/>
            <a:ext cx="2736413" cy="2736413"/>
          </a:xfrm>
          <a:prstGeom prst="ellipse">
            <a:avLst/>
          </a:prstGeom>
          <a:solidFill>
            <a:srgbClr val="06B6D4">
              <a:alpha val="14000"/>
            </a:srgbClr>
          </a:solidFill>
          <a:ln w="12700">
            <a:solidFill>
              <a:srgbClr val="06B6D4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069" y="3688234"/>
            <a:ext cx="1778669" cy="364855"/>
          </a:xfrm>
          <a:prstGeom prst="roundRect">
            <a:avLst>
              <a:gd name="adj" fmla="val 22500"/>
            </a:avLst>
          </a:prstGeom>
          <a:solidFill>
            <a:srgbClr val="6366F1">
              <a:alpha val="42000"/>
            </a:srgbClr>
          </a:solidFill>
          <a:ln w="12700">
            <a:solidFill>
              <a:srgbClr val="6366F1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44194" y="3688234"/>
            <a:ext cx="1778669" cy="364855"/>
          </a:xfrm>
          <a:prstGeom prst="roundRect">
            <a:avLst>
              <a:gd name="adj" fmla="val 22500"/>
            </a:avLst>
          </a:prstGeom>
          <a:solidFill>
            <a:srgbClr val="3B82F6">
              <a:alpha val="42000"/>
            </a:srgbClr>
          </a:solidFill>
          <a:ln w="12700">
            <a:solidFill>
              <a:srgbClr val="3B82F6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32320" y="3688234"/>
            <a:ext cx="1778669" cy="364855"/>
          </a:xfrm>
          <a:prstGeom prst="roundRect">
            <a:avLst>
              <a:gd name="adj" fmla="val 22500"/>
            </a:avLst>
          </a:prstGeom>
          <a:solidFill>
            <a:srgbClr val="7C3AED">
              <a:alpha val="42000"/>
            </a:srgbClr>
          </a:solidFill>
          <a:ln w="12700">
            <a:solidFill>
              <a:srgbClr val="7C3AED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0445" y="3688234"/>
            <a:ext cx="1778669" cy="364855"/>
          </a:xfrm>
          <a:prstGeom prst="roundRect">
            <a:avLst>
              <a:gd name="adj" fmla="val 22500"/>
            </a:avLst>
          </a:prstGeom>
          <a:solidFill>
            <a:srgbClr val="0D9488">
              <a:alpha val="42000"/>
            </a:srgbClr>
          </a:solidFill>
          <a:ln w="12700">
            <a:solidFill>
              <a:srgbClr val="0D9488">
                <a:alpha val="55000"/>
              </a:srgbClr>
            </a:solidFill>
            <a:prstDash val="solid"/>
          </a:ln>
        </p:spPr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0669C256-5C72-BB10-2E61-1B31B1C4BB8B}"/>
              </a:ext>
            </a:extLst>
          </p:cNvPr>
          <p:cNvSpPr/>
          <p:nvPr/>
        </p:nvSpPr>
        <p:spPr>
          <a:xfrm>
            <a:off x="487682" y="3708400"/>
            <a:ext cx="1664403" cy="349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/ catch / finally</a:t>
            </a:r>
            <a:endParaRPr lang="en-US" sz="1050" dirty="0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FB786F3F-7C0F-0E28-85B4-6D432A94BD57}"/>
              </a:ext>
            </a:extLst>
          </p:cNvPr>
          <p:cNvSpPr/>
          <p:nvPr/>
        </p:nvSpPr>
        <p:spPr>
          <a:xfrm>
            <a:off x="2349191" y="3688080"/>
            <a:ext cx="1777795" cy="369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Hierarchy</a:t>
            </a:r>
            <a:endParaRPr lang="en-US" sz="1050" dirty="0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57090605-24E6-675A-AE6E-BB4EDE2172BA}"/>
              </a:ext>
            </a:extLst>
          </p:cNvPr>
          <p:cNvSpPr/>
          <p:nvPr/>
        </p:nvSpPr>
        <p:spPr>
          <a:xfrm>
            <a:off x="4232649" y="3708400"/>
            <a:ext cx="1830225" cy="349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Exceptions</a:t>
            </a:r>
            <a:endParaRPr lang="en-US" sz="1050" dirty="0"/>
          </a:p>
        </p:txBody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B5DC22EE-D29A-79F3-363C-97ECD6D58536}"/>
              </a:ext>
            </a:extLst>
          </p:cNvPr>
          <p:cNvSpPr/>
          <p:nvPr/>
        </p:nvSpPr>
        <p:spPr>
          <a:xfrm>
            <a:off x="6117736" y="3708400"/>
            <a:ext cx="1777795" cy="369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&amp; IDisposable</a:t>
            </a:r>
            <a:endParaRPr lang="en-US" sz="1050" dirty="0"/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1BDD3654-4A7E-21D7-611F-34C3A38F1452}"/>
              </a:ext>
            </a:extLst>
          </p:cNvPr>
          <p:cNvSpPr/>
          <p:nvPr/>
        </p:nvSpPr>
        <p:spPr>
          <a:xfrm>
            <a:off x="477523" y="1203960"/>
            <a:ext cx="10068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5200" dirty="0"/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6CE52DCF-40A0-8745-0ED7-F7273C58697A}"/>
              </a:ext>
            </a:extLst>
          </p:cNvPr>
          <p:cNvSpPr/>
          <p:nvPr/>
        </p:nvSpPr>
        <p:spPr>
          <a:xfrm>
            <a:off x="477523" y="2090928"/>
            <a:ext cx="961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Fail Gracefully, Recover Smart</a:t>
            </a:r>
            <a:endParaRPr lang="en-US" sz="2400">
              <a:solidFill>
                <a:srgbClr val="00B0F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4481A978-6E19-B119-B97D-0E7A97434D0D}"/>
              </a:ext>
            </a:extLst>
          </p:cNvPr>
          <p:cNvSpPr/>
          <p:nvPr/>
        </p:nvSpPr>
        <p:spPr>
          <a:xfrm>
            <a:off x="477523" y="2694432"/>
            <a:ext cx="7874000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failures before they crash your program — and write code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degrades gracefully instead of falling over.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416765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Exceptions?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64133"/>
            <a:ext cx="64008" cy="6400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5" name="Text 3"/>
          <p:cNvSpPr/>
          <p:nvPr/>
        </p:nvSpPr>
        <p:spPr>
          <a:xfrm>
            <a:off x="585216" y="1005840"/>
            <a:ext cx="4837176" cy="724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errors  </a:t>
            </a: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 object that represents something going wrong while the program runs: bad input, missing files, network failures.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1941195"/>
            <a:ext cx="64008" cy="6400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7" name="Text 5"/>
          <p:cNvSpPr/>
          <p:nvPr/>
        </p:nvSpPr>
        <p:spPr>
          <a:xfrm>
            <a:off x="585216" y="1882902"/>
            <a:ext cx="4837176" cy="724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normal flow  </a:t>
            </a: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when thrown, the CLR stops executing the current method and searches up the call stack for a handler.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2818257"/>
            <a:ext cx="64008" cy="6400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" y="2759964"/>
            <a:ext cx="4837176" cy="724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Objects, not codes  </a:t>
            </a: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exception derives from System.Exception and carries a Message, StackTrace, and optional InnerException.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65760" y="3695319"/>
            <a:ext cx="64008" cy="6400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" y="3637026"/>
            <a:ext cx="4837176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Unhandled = crash  </a:t>
            </a: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if no catch block matches, the runtime terminates the program with an error dump.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760720" y="1143000"/>
            <a:ext cx="6035040" cy="2194560"/>
          </a:xfrm>
          <a:prstGeom prst="roundRect">
            <a:avLst>
              <a:gd name="adj" fmla="val 2500"/>
            </a:avLst>
          </a:prstGeom>
          <a:solidFill>
            <a:srgbClr val="111827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1362456"/>
            <a:ext cx="566928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scores = { 90, 85, 77 };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 err="1">
                <a:solidFill>
                  <a:srgbClr val="CBD5E1"/>
                </a:solidFill>
                <a:latin typeface="Courier New"/>
                <a:ea typeface="Courier New" pitchFamily="34" charset="-122"/>
                <a:cs typeface="Courier New"/>
              </a:rPr>
              <a:t>Console.WriteLine</a:t>
            </a:r>
            <a:r>
              <a:rPr lang="en-US" sz="1150" dirty="0">
                <a:solidFill>
                  <a:srgbClr val="CBD5E1"/>
                </a:solidFill>
                <a:latin typeface="Courier New"/>
                <a:ea typeface="Courier New" pitchFamily="34" charset="-122"/>
                <a:cs typeface="Courier New"/>
              </a:rPr>
              <a:t>(scores[5]);</a:t>
            </a:r>
            <a:endParaRPr lang="en-US" sz="1150" dirty="0">
              <a:latin typeface="Courier New"/>
              <a:cs typeface="Courier New"/>
            </a:endParaRPr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Unhandled exception: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B7185"/>
                </a:solidFill>
                <a:latin typeface="Courier New"/>
                <a:ea typeface="Courier New" pitchFamily="34" charset="-122"/>
                <a:cs typeface="Courier New"/>
              </a:rPr>
              <a:t>// </a:t>
            </a:r>
            <a:r>
              <a:rPr lang="en-US" sz="1150" dirty="0" err="1">
                <a:solidFill>
                  <a:srgbClr val="FB7185"/>
                </a:solidFill>
                <a:latin typeface="Courier New"/>
                <a:ea typeface="Courier New" pitchFamily="34" charset="-122"/>
                <a:cs typeface="Courier New"/>
              </a:rPr>
              <a:t>System.IndexOutOfRangeException</a:t>
            </a:r>
            <a:r>
              <a:rPr lang="en-US" sz="1150" dirty="0">
                <a:solidFill>
                  <a:srgbClr val="FB7185"/>
                </a:solidFill>
                <a:latin typeface="Courier New"/>
                <a:ea typeface="Courier New" pitchFamily="34" charset="-122"/>
                <a:cs typeface="Courier New"/>
              </a:rPr>
              <a:t>:</a:t>
            </a:r>
            <a:endParaRPr lang="en-US" sz="1150" dirty="0">
              <a:latin typeface="Courier New"/>
              <a:cs typeface="Courier New"/>
            </a:endParaRPr>
          </a:p>
          <a:p>
            <a:pPr>
              <a:lnSpc>
                <a:spcPct val="122000"/>
              </a:lnSpc>
            </a:pPr>
            <a:r>
              <a:rPr lang="en-US" sz="1150">
                <a:solidFill>
                  <a:srgbClr val="64748B"/>
                </a:solidFill>
                <a:latin typeface="Courier New"/>
                <a:ea typeface="Courier New" pitchFamily="34" charset="-122"/>
                <a:cs typeface="Courier New"/>
              </a:rPr>
              <a:t>//   Index was outside the bounds of the array.</a:t>
            </a:r>
            <a:endParaRPr lang="en-US" sz="1150">
              <a:latin typeface="Courier New"/>
              <a:cs typeface="Courier New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61888" y="1014984"/>
            <a:ext cx="1777594" cy="256032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/>
        </p:spPr>
      </p:sp>
      <p:sp>
        <p:nvSpPr>
          <p:cNvPr id="15" name="Text 13"/>
          <p:cNvSpPr/>
          <p:nvPr/>
        </p:nvSpPr>
        <p:spPr>
          <a:xfrm>
            <a:off x="5961888" y="1010412"/>
            <a:ext cx="17775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UNHANDLED EXCEPTION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28591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try, catch &amp; finally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6675120" cy="3977640"/>
          </a:xfrm>
          <a:prstGeom prst="roundRect">
            <a:avLst>
              <a:gd name="adj" fmla="val 1379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62456"/>
            <a:ext cx="630936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result = 10 / int.Parse(input);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Console.WriteLine(result);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(DivideByZeroException ex)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Console.WriteLine($"Can't divide: {ex.Message}");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finally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Console.WriteLine("Always runs — cleanup here.");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0" y="1143000"/>
            <a:ext cx="4480560" cy="4160520"/>
          </a:xfrm>
          <a:prstGeom prst="roundRect">
            <a:avLst>
              <a:gd name="adj" fmla="val 1758"/>
            </a:avLst>
          </a:prstGeom>
          <a:solidFill>
            <a:srgbClr val="1E293B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13258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Flows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0" y="1758696"/>
            <a:ext cx="64008" cy="6400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7717536" y="1709928"/>
            <a:ext cx="3877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that might fail.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98080" y="2145284"/>
            <a:ext cx="64008" cy="6400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7717536" y="2096516"/>
            <a:ext cx="3877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only if a matching exception is thrown.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98080" y="2531872"/>
            <a:ext cx="64008" cy="6400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7717536" y="2483104"/>
            <a:ext cx="3877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runs — success, failure, or even a return.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98080" y="3119628"/>
            <a:ext cx="64008" cy="6400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7717536" y="3070860"/>
            <a:ext cx="3877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and finally are each optional, but at least one must be present.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74798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Catch Blocks &amp; Hierarchy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6035040" cy="3154680"/>
          </a:xfrm>
          <a:prstGeom prst="roundRect">
            <a:avLst>
              <a:gd name="adj" fmla="val 1739"/>
            </a:avLst>
          </a:prstGeom>
          <a:solidFill>
            <a:srgbClr val="11182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62456"/>
            <a:ext cx="5669280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 OpenAndReadFile(path); }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(FileNotFoundException ex)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Console.WriteLine("File missing.");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(IOException ex)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Console.WriteLine("I/O problem.");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(Exception ex)          </a:t>
            </a: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catch-all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Console.WriteLine("Unexpected error.");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" y="1014984"/>
            <a:ext cx="1552651" cy="256032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010412"/>
            <a:ext cx="15526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SPECIFIC FIRST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675120" y="1143000"/>
            <a:ext cx="5120640" cy="3154680"/>
          </a:xfrm>
          <a:prstGeom prst="roundRect">
            <a:avLst>
              <a:gd name="adj" fmla="val 2319"/>
            </a:avLst>
          </a:prstGeom>
          <a:solidFill>
            <a:srgbClr val="1E293B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1325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86600" y="173736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SystemException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0" y="2103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IOException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43800" y="24505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FileNotFoundException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086600" y="288036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ArgumentException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0" y="3337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hierarchy — narrow it down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4434840"/>
            <a:ext cx="1143000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4348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matters: </a:t>
            </a: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runtime checks catch blocks top-to-bottom and uses the first match — put derived (specific) exception types before their base classes, or the specific catch becomes unreachable.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438074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Built-In Exception Types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641848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88136"/>
            <a:ext cx="5276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NullReferenceException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5276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a member on a null object.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53912" y="960120"/>
            <a:ext cx="5641848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 w="15875">
            <a:solidFill>
              <a:srgbClr val="FB71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36792" y="1088136"/>
            <a:ext cx="5276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IndexOutOfRangeException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36792" y="1417320"/>
            <a:ext cx="5276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index outside its valid bounds.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139696"/>
            <a:ext cx="5641848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67712"/>
            <a:ext cx="5276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ArgumentException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596896"/>
            <a:ext cx="5276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argument is invalid; ArgumentNullException is a common subtype.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53912" y="2139696"/>
            <a:ext cx="5641848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6792" y="2267712"/>
            <a:ext cx="5276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DivideByZeroException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36792" y="2596896"/>
            <a:ext cx="5276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division where the divisor is zero.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319272"/>
            <a:ext cx="5641848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447288"/>
            <a:ext cx="5276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InvalidOperationException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776472"/>
            <a:ext cx="5276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 is invalid for the object's current state.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53912" y="3319272"/>
            <a:ext cx="5641848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3447288"/>
            <a:ext cx="5276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FormatException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36792" y="3776472"/>
            <a:ext cx="5276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string isn't in the format an operation expects (e.g. int.Parse).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991324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vs. throw ex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641848" cy="2377440"/>
          </a:xfrm>
          <a:prstGeom prst="roundRect">
            <a:avLst>
              <a:gd name="adj" fmla="val 2308"/>
            </a:avLst>
          </a:prstGeom>
          <a:solidFill>
            <a:srgbClr val="11182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08176"/>
            <a:ext cx="5276088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(Exception ex)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LogError(ex);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throw;              </a:t>
            </a: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rethrow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852574" cy="256032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056132"/>
            <a:ext cx="1852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— PRESERVES TRACE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53912" y="1188720"/>
            <a:ext cx="5641848" cy="2377440"/>
          </a:xfrm>
          <a:prstGeom prst="roundRect">
            <a:avLst>
              <a:gd name="adj" fmla="val 2308"/>
            </a:avLst>
          </a:prstGeom>
          <a:solidFill>
            <a:srgbClr val="111827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6792" y="1408176"/>
            <a:ext cx="5276088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(Exception ex)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LogError(ex);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ex;          </a:t>
            </a: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avoid this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1060704"/>
            <a:ext cx="1852574" cy="256032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056132"/>
            <a:ext cx="1852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EX — RESETS TRACE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931920"/>
            <a:ext cx="11430000" cy="1600200"/>
          </a:xfrm>
          <a:prstGeom prst="roundRect">
            <a:avLst>
              <a:gd name="adj" fmla="val 4571"/>
            </a:avLst>
          </a:prstGeom>
          <a:solidFill>
            <a:srgbClr val="1E293B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0690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3608"/>
            <a:ext cx="64008" cy="640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" y="4434840"/>
            <a:ext cx="10826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throw;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rethrows the original exception object — the StackTrace still points to where it was first thrown, which is essential for debugging.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832096"/>
            <a:ext cx="64008" cy="640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" y="4783328"/>
            <a:ext cx="10826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ex;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throws it as a brand-new exception from this line — you lose the original stack trace and the true source of the bug.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412727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Exceptions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11182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62456"/>
            <a:ext cx="5120640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InsufficientFundsException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Exception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decimal Shortfall { get; }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InsufficientFundsException(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message, decimal shortfall)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 base(message)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Shortfall = shortfall;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" y="1014984"/>
            <a:ext cx="1252728" cy="256032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010412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YOUR OWN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143000"/>
            <a:ext cx="5669280" cy="1417320"/>
          </a:xfrm>
          <a:prstGeom prst="roundRect">
            <a:avLst>
              <a:gd name="adj" fmla="val 3871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362456"/>
            <a:ext cx="53035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(balance &lt; amount)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InsufficientFundsException(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"Not enough funds.", amount - balance);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27648" y="1014984"/>
            <a:ext cx="952805" cy="256032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6327648" y="1010412"/>
            <a:ext cx="9528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THROWING 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2834640"/>
            <a:ext cx="5669280" cy="2468880"/>
          </a:xfrm>
          <a:prstGeom prst="roundRect">
            <a:avLst>
              <a:gd name="adj" fmla="val 2963"/>
            </a:avLst>
          </a:prstGeom>
          <a:solidFill>
            <a:srgbClr val="1E293B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98094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Bother?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09360" y="3379978"/>
            <a:ext cx="64008" cy="6400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6528816" y="3337560"/>
            <a:ext cx="5065776" cy="230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callers a specific type to catch instead of a generic Exception.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3724402"/>
            <a:ext cx="64008" cy="6400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6528816" y="3681984"/>
            <a:ext cx="5065776" cy="230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extra domain data (like Shortfall) alongside the message.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4068826"/>
            <a:ext cx="64008" cy="6400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6528816" y="4026408"/>
            <a:ext cx="506577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suffix the class name with Exception, and inherit from Exception (or a closer built-in type).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404221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&amp; IDisposable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6675120" cy="2103120"/>
          </a:xfrm>
          <a:prstGeom prst="roundRect">
            <a:avLst>
              <a:gd name="adj" fmla="val 2609"/>
            </a:avLst>
          </a:prstGeom>
          <a:solidFill>
            <a:srgbClr val="111827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62456"/>
            <a:ext cx="630936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(var reader = new StreamReader(path))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line = reader.ReadLine();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Console.WriteLine(line);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 </a:t>
            </a: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Dispose() called automatically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" y="1014984"/>
            <a:ext cx="1252728" cy="256032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010412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STATEMENT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3520440"/>
            <a:ext cx="6675120" cy="1645920"/>
          </a:xfrm>
          <a:prstGeom prst="roundRect">
            <a:avLst>
              <a:gd name="adj" fmla="val 3333"/>
            </a:avLst>
          </a:prstGeom>
          <a:solidFill>
            <a:srgbClr val="111827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739896"/>
            <a:ext cx="630936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reader = new StreamReader(path);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 /* use reader */ }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finally { reader.Dispose(); }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3392424"/>
            <a:ext cx="1777594" cy="256032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3387852"/>
            <a:ext cx="17775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TRY/FINALLY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0" y="1143000"/>
            <a:ext cx="4480560" cy="3931920"/>
          </a:xfrm>
          <a:prstGeom prst="roundRect">
            <a:avLst>
              <a:gd name="adj" fmla="val 1860"/>
            </a:avLst>
          </a:prstGeom>
          <a:solidFill>
            <a:srgbClr val="1E293B"/>
          </a:solidFill>
          <a:ln w="15875">
            <a:solidFill>
              <a:srgbClr val="FB92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13258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Cleanup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0" y="1755521"/>
            <a:ext cx="64008" cy="64008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15" name="Text 13"/>
          <p:cNvSpPr/>
          <p:nvPr/>
        </p:nvSpPr>
        <p:spPr>
          <a:xfrm>
            <a:off x="7717536" y="1709928"/>
            <a:ext cx="3877056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IDisposable  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(files, streams, DB connections) hold unmanaged resources that must be released.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498080" y="2339213"/>
            <a:ext cx="64008" cy="64008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17" name="Text 15"/>
          <p:cNvSpPr/>
          <p:nvPr/>
        </p:nvSpPr>
        <p:spPr>
          <a:xfrm>
            <a:off x="7717536" y="2293620"/>
            <a:ext cx="3877056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 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Dispose() runs even if an exception is thrown inside the block.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98080" y="2922905"/>
            <a:ext cx="64008" cy="64008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19" name="Text 17"/>
          <p:cNvSpPr/>
          <p:nvPr/>
        </p:nvSpPr>
        <p:spPr>
          <a:xfrm>
            <a:off x="7717536" y="2877312"/>
            <a:ext cx="3877056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8+  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 using declaration — no braces needed, disposes at end of scope.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9449001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Filters &amp; Best Practices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669280" cy="1828800"/>
          </a:xfrm>
          <a:prstGeom prst="roundRect">
            <a:avLst>
              <a:gd name="adj" fmla="val 3000"/>
            </a:avLst>
          </a:prstGeom>
          <a:solidFill>
            <a:srgbClr val="111827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62456"/>
            <a:ext cx="530352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(HttpRequestException ex)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(ex.StatusCode == 404)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Console.WriteLine("Not found.");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" y="1014984"/>
            <a:ext cx="1852574" cy="256032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010412"/>
            <a:ext cx="1852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FILTER (WHEN)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3246120"/>
            <a:ext cx="5669280" cy="2148840"/>
          </a:xfrm>
          <a:prstGeom prst="roundRect">
            <a:avLst>
              <a:gd name="adj" fmla="val 3404"/>
            </a:avLst>
          </a:prstGeom>
          <a:solidFill>
            <a:srgbClr val="1E293B"/>
          </a:solidFill>
          <a:ln w="15875">
            <a:solidFill>
              <a:srgbClr val="818C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37413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742563"/>
            <a:ext cx="64008" cy="6400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3703320"/>
            <a:ext cx="5065776" cy="221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only exceptions you can meaningfully handle.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053205"/>
            <a:ext cx="64008" cy="6400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" y="4013962"/>
            <a:ext cx="5065776" cy="221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with the original exception object, not just its message.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363847"/>
            <a:ext cx="64008" cy="6400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" y="4324604"/>
            <a:ext cx="5065776" cy="221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specific exception types over generic Exception.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114300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1E293B"/>
          </a:solidFill>
          <a:ln w="15875">
            <a:solidFill>
              <a:srgbClr val="FB71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325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92240" y="1718945"/>
            <a:ext cx="64008" cy="6400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9" name="Text 17"/>
          <p:cNvSpPr/>
          <p:nvPr/>
        </p:nvSpPr>
        <p:spPr>
          <a:xfrm>
            <a:off x="6711696" y="1673352"/>
            <a:ext cx="4882896" cy="238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Swallow exceptions with an empty catch block — silence hides bugs.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92240" y="2109851"/>
            <a:ext cx="64008" cy="6400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21" name="Text 19"/>
          <p:cNvSpPr/>
          <p:nvPr/>
        </p:nvSpPr>
        <p:spPr>
          <a:xfrm>
            <a:off x="6711696" y="2064258"/>
            <a:ext cx="4882896" cy="238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exceptions for normal control flow (e.g. checking existence).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92240" y="2500757"/>
            <a:ext cx="64008" cy="6400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23" name="Text 21"/>
          <p:cNvSpPr/>
          <p:nvPr/>
        </p:nvSpPr>
        <p:spPr>
          <a:xfrm>
            <a:off x="6711696" y="2455164"/>
            <a:ext cx="4882896" cy="238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Exception just to keep the program running without a plan.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92240" y="2891663"/>
            <a:ext cx="64008" cy="6400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25" name="Text 23"/>
          <p:cNvSpPr/>
          <p:nvPr/>
        </p:nvSpPr>
        <p:spPr>
          <a:xfrm>
            <a:off x="6711696" y="2846070"/>
            <a:ext cx="4882896" cy="238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ex when rethrowing — it destroys the original stack trace.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2384948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6949440" cy="4251960"/>
          </a:xfrm>
          <a:prstGeom prst="roundRect">
            <a:avLst>
              <a:gd name="adj" fmla="val 1290"/>
            </a:avLst>
          </a:prstGeom>
          <a:solidFill>
            <a:srgbClr val="111827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62456"/>
            <a:ext cx="6583680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List&lt;int&gt; ParseScores(string path)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var lines = File.ReadAllLines(path);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lines.Select(int.Parse).ToList();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catch (FileNotFoundException)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new InvalidOperationException(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$"Score file missing: {path}");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catch (FormatException ex)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new InvalidOperationException(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"File has non-numeric data.", ex);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" y="1014984"/>
            <a:ext cx="1327709" cy="256032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010412"/>
            <a:ext cx="13277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FILE PARSER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589520" y="1143000"/>
            <a:ext cx="4206240" cy="4114800"/>
          </a:xfrm>
          <a:prstGeom prst="roundRect">
            <a:avLst>
              <a:gd name="adj" fmla="val 1778"/>
            </a:avLst>
          </a:prstGeom>
          <a:solidFill>
            <a:srgbClr val="1E293B"/>
          </a:solidFill>
          <a:ln w="15875">
            <a:solidFill>
              <a:srgbClr val="FB71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3258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Happening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0" y="1737233"/>
            <a:ext cx="64008" cy="6400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1" name="Text 9"/>
          <p:cNvSpPr/>
          <p:nvPr/>
        </p:nvSpPr>
        <p:spPr>
          <a:xfrm>
            <a:off x="7991856" y="1691640"/>
            <a:ext cx="3602736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catches  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the two failure modes that matter here.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0" y="2320925"/>
            <a:ext cx="64008" cy="6400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3" name="Text 11"/>
          <p:cNvSpPr/>
          <p:nvPr/>
        </p:nvSpPr>
        <p:spPr>
          <a:xfrm>
            <a:off x="7991856" y="2275332"/>
            <a:ext cx="3602736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&amp; rethrow  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low-level exceptions into one meaningful to the caller.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0" y="2904617"/>
            <a:ext cx="64008" cy="6400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5" name="Text 13"/>
          <p:cNvSpPr/>
          <p:nvPr/>
        </p:nvSpPr>
        <p:spPr>
          <a:xfrm>
            <a:off x="7991856" y="2859024"/>
            <a:ext cx="3602736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exception  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 argument keeps the original cause attached for debugging.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3787295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Cheat Sheet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747772" cy="3246120"/>
          </a:xfrm>
          <a:prstGeom prst="roundRect">
            <a:avLst>
              <a:gd name="adj" fmla="val 2662"/>
            </a:avLst>
          </a:prstGeom>
          <a:solidFill>
            <a:srgbClr val="1E293B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2747772" cy="475488"/>
          </a:xfrm>
          <a:prstGeom prst="roundRect">
            <a:avLst>
              <a:gd name="adj" fmla="val 15385"/>
            </a:avLst>
          </a:prstGeom>
          <a:solidFill>
            <a:srgbClr val="38BDF8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93776" y="960120"/>
            <a:ext cx="24917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Syntax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3776" y="1581912"/>
            <a:ext cx="24917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 }</a:t>
            </a:r>
            <a:endParaRPr lang="en-US" sz="95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(Type ex) { }</a:t>
            </a:r>
            <a:endParaRPr lang="en-US" sz="95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finally { }</a:t>
            </a:r>
            <a:endParaRPr lang="en-US" sz="95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(Ex) when (cond)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59836" y="960120"/>
            <a:ext cx="2747772" cy="3246120"/>
          </a:xfrm>
          <a:prstGeom prst="roundRect">
            <a:avLst>
              <a:gd name="adj" fmla="val 2662"/>
            </a:avLst>
          </a:prstGeom>
          <a:solidFill>
            <a:srgbClr val="1E293B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59836" y="960120"/>
            <a:ext cx="2747772" cy="475488"/>
          </a:xfrm>
          <a:prstGeom prst="roundRect">
            <a:avLst>
              <a:gd name="adj" fmla="val 15385"/>
            </a:avLst>
          </a:prstGeom>
          <a:solidFill>
            <a:srgbClr val="A78BFA">
              <a:alpha val="1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387852" y="960120"/>
            <a:ext cx="24917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7852" y="1581912"/>
            <a:ext cx="24917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 new Exception(msg)</a:t>
            </a:r>
            <a:endParaRPr lang="en-US" sz="95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throw;  // rethrow</a:t>
            </a:r>
            <a:endParaRPr lang="en-US" sz="95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 ex;  // avoid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53912" y="960120"/>
            <a:ext cx="2747772" cy="3246120"/>
          </a:xfrm>
          <a:prstGeom prst="roundRect">
            <a:avLst>
              <a:gd name="adj" fmla="val 2662"/>
            </a:avLst>
          </a:prstGeom>
          <a:solidFill>
            <a:srgbClr val="1E293B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53912" y="960120"/>
            <a:ext cx="2747772" cy="475488"/>
          </a:xfrm>
          <a:prstGeom prst="roundRect">
            <a:avLst>
              <a:gd name="adj" fmla="val 15385"/>
            </a:avLst>
          </a:prstGeom>
          <a:solidFill>
            <a:srgbClr val="FBBF24">
              <a:alpha val="1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281928" y="960120"/>
            <a:ext cx="24917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Types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81928" y="1581912"/>
            <a:ext cx="24917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NullReferenceException</a:t>
            </a:r>
            <a:endParaRPr lang="en-US" sz="95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ArgumentException</a:t>
            </a:r>
            <a:endParaRPr lang="en-US" sz="95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InvalidOperationException</a:t>
            </a:r>
            <a:endParaRPr lang="en-US" sz="95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IOException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47988" y="960120"/>
            <a:ext cx="2747772" cy="3246120"/>
          </a:xfrm>
          <a:prstGeom prst="roundRect">
            <a:avLst>
              <a:gd name="adj" fmla="val 2662"/>
            </a:avLst>
          </a:prstGeom>
          <a:solidFill>
            <a:srgbClr val="1E293B"/>
          </a:solidFill>
          <a:ln w="15875">
            <a:solidFill>
              <a:srgbClr val="FB92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47988" y="960120"/>
            <a:ext cx="2747772" cy="475488"/>
          </a:xfrm>
          <a:prstGeom prst="roundRect">
            <a:avLst>
              <a:gd name="adj" fmla="val 15385"/>
            </a:avLst>
          </a:prstGeom>
          <a:solidFill>
            <a:srgbClr val="FB923C">
              <a:alpha val="1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176004" y="960120"/>
            <a:ext cx="24917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76004" y="1581912"/>
            <a:ext cx="24917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(var x = ...) { }</a:t>
            </a:r>
            <a:endParaRPr lang="en-US" sz="95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IDisposable.Dispose()</a:t>
            </a:r>
            <a:endParaRPr lang="en-US" sz="95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/ finally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4480560"/>
            <a:ext cx="1143000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663440"/>
            <a:ext cx="530352" cy="530352"/>
          </a:xfrm>
          <a:prstGeom prst="ellipse">
            <a:avLst/>
          </a:prstGeom>
          <a:solidFill>
            <a:srgbClr val="38BDF8">
              <a:alpha val="16000"/>
            </a:srgbClr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6542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80160" y="44805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are for the </a:t>
            </a: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reserve them for real failures, not everyday control flow.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10806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22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61</cp:revision>
  <dcterms:created xsi:type="dcterms:W3CDTF">2026-08-15T08:58:40Z</dcterms:created>
  <dcterms:modified xsi:type="dcterms:W3CDTF">2026-08-16T09:10:15Z</dcterms:modified>
</cp:coreProperties>
</file>